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10058400" cy="365760"/>
          </a:xfrm>
          <a:prstGeom prst="rect">
            <a:avLst/>
          </a:prstGeom>
          <a:noFill/>
        </p:spPr>
        <p:txBody>
          <a:bodyPr wrap="square">
            <a:spAutoFit/>
          </a:bodyPr>
          <a:lstStyle/>
          <a:p>
            <a:pPr algn="l"/>
            <a:r>
              <a:rPr sz="1200" b="1" i="0">
                <a:solidFill>
                  <a:srgbClr val="D4952A"/>
                </a:solidFill>
                <a:latin typeface="Calibri"/>
              </a:rPr>
              <a:t>LOG_ON AI SOLUTION AGENCY  ·  LAGOS, NIGERIA  ·  2026</a:t>
            </a:r>
          </a:p>
        </p:txBody>
      </p:sp>
      <p:sp>
        <p:nvSpPr>
          <p:cNvPr id="5" name="TextBox 4"/>
          <p:cNvSpPr txBox="1"/>
          <p:nvPr/>
        </p:nvSpPr>
        <p:spPr>
          <a:xfrm>
            <a:off x="822960" y="1920240"/>
            <a:ext cx="10515600" cy="2011680"/>
          </a:xfrm>
          <a:prstGeom prst="rect">
            <a:avLst/>
          </a:prstGeom>
          <a:noFill/>
        </p:spPr>
        <p:txBody>
          <a:bodyPr wrap="square">
            <a:spAutoFit/>
          </a:bodyPr>
          <a:lstStyle/>
          <a:p>
            <a:pPr algn="l"/>
            <a:r>
              <a:rPr sz="4400" b="1" i="0">
                <a:solidFill>
                  <a:srgbClr val="F4F4F8"/>
                </a:solidFill>
                <a:latin typeface="Georgia"/>
              </a:rPr>
              <a:t>Direction infrastructure
for African AI</a:t>
            </a:r>
          </a:p>
        </p:txBody>
      </p:sp>
      <p:sp>
        <p:nvSpPr>
          <p:cNvPr id="6" name="TextBox 5"/>
          <p:cNvSpPr txBox="1"/>
          <p:nvPr/>
        </p:nvSpPr>
        <p:spPr>
          <a:xfrm>
            <a:off x="822960" y="4206240"/>
            <a:ext cx="9144000" cy="1097280"/>
          </a:xfrm>
          <a:prstGeom prst="rect">
            <a:avLst/>
          </a:prstGeom>
          <a:noFill/>
        </p:spPr>
        <p:txBody>
          <a:bodyPr wrap="square">
            <a:spAutoFit/>
          </a:bodyPr>
          <a:lstStyle/>
          <a:p>
            <a:pPr algn="l"/>
            <a:r>
              <a:rPr sz="1800" b="0" i="1">
                <a:solidFill>
                  <a:srgbClr val="9A9AA8"/>
                </a:solidFill>
                <a:latin typeface="Georgia"/>
              </a:rPr>
              <a:t>Your AI is executing. Toward what?
Systems layer · Cognitive tooling · Epistemological frameworks</a:t>
            </a:r>
          </a:p>
        </p:txBody>
      </p:sp>
      <p:sp>
        <p:nvSpPr>
          <p:cNvPr id="7" name="Rectangle 6"/>
          <p:cNvSpPr/>
          <p:nvPr/>
        </p:nvSpPr>
        <p:spPr>
          <a:xfrm>
            <a:off x="0" y="6656832"/>
            <a:ext cx="12191695" cy="201168"/>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spAutoFit/>
          </a:bodyPr>
          <a:lstStyle/>
          <a:p>
            <a:pPr algn="l"/>
            <a:r>
              <a:rPr sz="900" b="1" i="0">
                <a:solidFill>
                  <a:srgbClr val="09090A"/>
                </a:solidFill>
                <a:latin typeface="Calibri"/>
              </a:rPr>
              <a:t>LOG_ON  ·  Lagos  ·  Direction infrastructure for African AI</a:t>
            </a:r>
          </a:p>
        </p:txBody>
      </p:sp>
      <p:sp>
        <p:nvSpPr>
          <p:cNvPr id="9" name="TextBox 8"/>
          <p:cNvSpPr txBox="1"/>
          <p:nvPr/>
        </p:nvSpPr>
        <p:spPr>
          <a:xfrm>
            <a:off x="10424160" y="6656832"/>
            <a:ext cx="1371600" cy="201168"/>
          </a:xfrm>
          <a:prstGeom prst="rect">
            <a:avLst/>
          </a:prstGeom>
          <a:noFill/>
        </p:spPr>
        <p:txBody>
          <a:bodyPr wrap="square">
            <a:spAutoFit/>
          </a:bodyPr>
          <a:lstStyle/>
          <a:p>
            <a:pPr algn="r"/>
            <a:r>
              <a:rPr sz="900" b="1" i="0">
                <a:solidFill>
                  <a:srgbClr val="09090A"/>
                </a:solidFill>
                <a:latin typeface="Calibri"/>
              </a:rPr>
              <a:t>01 /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5486400" cy="274320"/>
          </a:xfrm>
          <a:prstGeom prst="rect">
            <a:avLst/>
          </a:prstGeom>
          <a:noFill/>
        </p:spPr>
        <p:txBody>
          <a:bodyPr wrap="square">
            <a:spAutoFit/>
          </a:bodyPr>
          <a:lstStyle/>
          <a:p>
            <a:pPr algn="l"/>
            <a:r>
              <a:rPr sz="1100" b="1" i="0">
                <a:solidFill>
                  <a:srgbClr val="D4952A"/>
                </a:solidFill>
                <a:latin typeface="Calibri"/>
              </a:rPr>
              <a:t>LOG_ON</a:t>
            </a:r>
          </a:p>
        </p:txBody>
      </p:sp>
      <p:sp>
        <p:nvSpPr>
          <p:cNvPr id="5" name="TextBox 4"/>
          <p:cNvSpPr txBox="1"/>
          <p:nvPr/>
        </p:nvSpPr>
        <p:spPr>
          <a:xfrm>
            <a:off x="5943600" y="201168"/>
            <a:ext cx="5760720" cy="274320"/>
          </a:xfrm>
          <a:prstGeom prst="rect">
            <a:avLst/>
          </a:prstGeom>
          <a:noFill/>
        </p:spPr>
        <p:txBody>
          <a:bodyPr wrap="square">
            <a:spAutoFit/>
          </a:bodyPr>
          <a:lstStyle/>
          <a:p>
            <a:pPr algn="r"/>
            <a:r>
              <a:rPr sz="1100" b="0" i="0">
                <a:solidFill>
                  <a:srgbClr val="5A5A65"/>
                </a:solidFill>
                <a:latin typeface="Calibri"/>
              </a:rPr>
              <a:t>THE OPERATIONAL QUESTION</a:t>
            </a:r>
          </a:p>
        </p:txBody>
      </p:sp>
      <p:sp>
        <p:nvSpPr>
          <p:cNvPr id="6" name="TextBox 5"/>
          <p:cNvSpPr txBox="1"/>
          <p:nvPr/>
        </p:nvSpPr>
        <p:spPr>
          <a:xfrm>
            <a:off x="640080" y="1188720"/>
            <a:ext cx="10972800" cy="2011680"/>
          </a:xfrm>
          <a:prstGeom prst="rect">
            <a:avLst/>
          </a:prstGeom>
          <a:noFill/>
        </p:spPr>
        <p:txBody>
          <a:bodyPr wrap="square">
            <a:spAutoFit/>
          </a:bodyPr>
          <a:lstStyle/>
          <a:p>
            <a:pPr algn="l"/>
            <a:r>
              <a:rPr sz="3600" b="0" i="1">
                <a:solidFill>
                  <a:srgbClr val="F4F4F8"/>
                </a:solidFill>
                <a:latin typeface="Georgia"/>
              </a:rPr>
              <a:t>Intelligence without sovereignty
is sophisticated servitude.</a:t>
            </a:r>
          </a:p>
        </p:txBody>
      </p:sp>
      <p:sp>
        <p:nvSpPr>
          <p:cNvPr id="7" name="TextBox 6"/>
          <p:cNvSpPr txBox="1"/>
          <p:nvPr/>
        </p:nvSpPr>
        <p:spPr>
          <a:xfrm>
            <a:off x="640080" y="3383280"/>
            <a:ext cx="10515600" cy="2194560"/>
          </a:xfrm>
          <a:prstGeom prst="rect">
            <a:avLst/>
          </a:prstGeom>
          <a:noFill/>
        </p:spPr>
        <p:txBody>
          <a:bodyPr wrap="square">
            <a:spAutoFit/>
          </a:bodyPr>
          <a:lstStyle/>
          <a:p>
            <a:pPr algn="l"/>
            <a:r>
              <a:rPr sz="1800" b="0" i="0">
                <a:solidFill>
                  <a:srgbClr val="9A9AA8"/>
                </a:solidFill>
                <a:latin typeface="Calibri"/>
              </a:rPr>
              <a:t>The question is not whether the system is smart.
The question is: smart in whose image, toward whose ends, at whose cost?
LOG_ON exists because African organisations are consuming someone else’s cognitive infrastructure — and calling it progress.</a:t>
            </a:r>
          </a:p>
        </p:txBody>
      </p:sp>
      <p:sp>
        <p:nvSpPr>
          <p:cNvPr id="8" name="Rectangle 7"/>
          <p:cNvSpPr/>
          <p:nvPr/>
        </p:nvSpPr>
        <p:spPr>
          <a:xfrm>
            <a:off x="0" y="6656832"/>
            <a:ext cx="12191695" cy="201168"/>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656832"/>
            <a:ext cx="7315200" cy="201168"/>
          </a:xfrm>
          <a:prstGeom prst="rect">
            <a:avLst/>
          </a:prstGeom>
          <a:noFill/>
        </p:spPr>
        <p:txBody>
          <a:bodyPr wrap="square">
            <a:spAutoFit/>
          </a:bodyPr>
          <a:lstStyle/>
          <a:p>
            <a:pPr algn="l"/>
            <a:r>
              <a:rPr sz="900" b="1" i="0">
                <a:solidFill>
                  <a:srgbClr val="09090A"/>
                </a:solidFill>
                <a:latin typeface="Calibri"/>
              </a:rPr>
              <a:t>LOG_ON  ·  Lagos  ·  Direction infrastructure for African AI</a:t>
            </a:r>
          </a:p>
        </p:txBody>
      </p:sp>
      <p:sp>
        <p:nvSpPr>
          <p:cNvPr id="10" name="TextBox 9"/>
          <p:cNvSpPr txBox="1"/>
          <p:nvPr/>
        </p:nvSpPr>
        <p:spPr>
          <a:xfrm>
            <a:off x="10424160" y="6656832"/>
            <a:ext cx="1371600" cy="201168"/>
          </a:xfrm>
          <a:prstGeom prst="rect">
            <a:avLst/>
          </a:prstGeom>
          <a:noFill/>
        </p:spPr>
        <p:txBody>
          <a:bodyPr wrap="square">
            <a:spAutoFit/>
          </a:bodyPr>
          <a:lstStyle/>
          <a:p>
            <a:pPr algn="r"/>
            <a:r>
              <a:rPr sz="900" b="1" i="0">
                <a:solidFill>
                  <a:srgbClr val="09090A"/>
                </a:solidFill>
                <a:latin typeface="Calibri"/>
              </a:rPr>
              <a:t>02 / 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5486400" cy="274320"/>
          </a:xfrm>
          <a:prstGeom prst="rect">
            <a:avLst/>
          </a:prstGeom>
          <a:noFill/>
        </p:spPr>
        <p:txBody>
          <a:bodyPr wrap="square">
            <a:spAutoFit/>
          </a:bodyPr>
          <a:lstStyle/>
          <a:p>
            <a:pPr algn="l"/>
            <a:r>
              <a:rPr sz="1100" b="1" i="0">
                <a:solidFill>
                  <a:srgbClr val="D4952A"/>
                </a:solidFill>
                <a:latin typeface="Calibri"/>
              </a:rPr>
              <a:t>LOG_ON</a:t>
            </a:r>
          </a:p>
        </p:txBody>
      </p:sp>
      <p:sp>
        <p:nvSpPr>
          <p:cNvPr id="5" name="TextBox 4"/>
          <p:cNvSpPr txBox="1"/>
          <p:nvPr/>
        </p:nvSpPr>
        <p:spPr>
          <a:xfrm>
            <a:off x="5943600" y="201168"/>
            <a:ext cx="5760720" cy="274320"/>
          </a:xfrm>
          <a:prstGeom prst="rect">
            <a:avLst/>
          </a:prstGeom>
          <a:noFill/>
        </p:spPr>
        <p:txBody>
          <a:bodyPr wrap="square">
            <a:spAutoFit/>
          </a:bodyPr>
          <a:lstStyle/>
          <a:p>
            <a:pPr algn="r"/>
            <a:r>
              <a:rPr sz="1100" b="0" i="0">
                <a:solidFill>
                  <a:srgbClr val="5A5A65"/>
                </a:solidFill>
                <a:latin typeface="Calibri"/>
              </a:rPr>
              <a:t>SYNTHESIS  ·  WILLIAMS · DEROSIAUX · KOE</a:t>
            </a:r>
          </a:p>
        </p:txBody>
      </p:sp>
      <p:sp>
        <p:nvSpPr>
          <p:cNvPr id="6" name="TextBox 5"/>
          <p:cNvSpPr txBox="1"/>
          <p:nvPr/>
        </p:nvSpPr>
        <p:spPr>
          <a:xfrm>
            <a:off x="640080" y="1005840"/>
            <a:ext cx="10972800" cy="914400"/>
          </a:xfrm>
          <a:prstGeom prst="rect">
            <a:avLst/>
          </a:prstGeom>
          <a:noFill/>
        </p:spPr>
        <p:txBody>
          <a:bodyPr wrap="square">
            <a:spAutoFit/>
          </a:bodyPr>
          <a:lstStyle/>
          <a:p>
            <a:pPr algn="l"/>
            <a:r>
              <a:rPr sz="3200" b="1" i="0">
                <a:solidFill>
                  <a:srgbClr val="F4F4F8"/>
                </a:solidFill>
                <a:latin typeface="Georgia"/>
              </a:rPr>
              <a:t>The Direction Problem</a:t>
            </a:r>
          </a:p>
        </p:txBody>
      </p:sp>
      <p:sp>
        <p:nvSpPr>
          <p:cNvPr id="7" name="TextBox 6"/>
          <p:cNvSpPr txBox="1"/>
          <p:nvPr/>
        </p:nvSpPr>
        <p:spPr>
          <a:xfrm>
            <a:off x="640080" y="1920240"/>
            <a:ext cx="10972800" cy="914400"/>
          </a:xfrm>
          <a:prstGeom prst="rect">
            <a:avLst/>
          </a:prstGeom>
          <a:noFill/>
        </p:spPr>
        <p:txBody>
          <a:bodyPr wrap="square">
            <a:spAutoFit/>
          </a:bodyPr>
          <a:lstStyle/>
          <a:p>
            <a:pPr algn="l"/>
            <a:r>
              <a:rPr sz="1600" b="0" i="1">
                <a:solidFill>
                  <a:srgbClr val="9A9AA8"/>
                </a:solidFill>
                <a:latin typeface="Georgia"/>
              </a:rPr>
              <a:t>Execution running ahead of understanding. AI makes the error faster and more expensive.</a:t>
            </a:r>
          </a:p>
        </p:txBody>
      </p:sp>
      <p:sp>
        <p:nvSpPr>
          <p:cNvPr id="8" name="Rectangle 7"/>
          <p:cNvSpPr/>
          <p:nvPr/>
        </p:nvSpPr>
        <p:spPr>
          <a:xfrm>
            <a:off x="640080" y="3017520"/>
            <a:ext cx="3474720" cy="292608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017520"/>
            <a:ext cx="73152" cy="292608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3182112"/>
            <a:ext cx="3108960" cy="365760"/>
          </a:xfrm>
          <a:prstGeom prst="rect">
            <a:avLst/>
          </a:prstGeom>
          <a:noFill/>
        </p:spPr>
        <p:txBody>
          <a:bodyPr wrap="square">
            <a:spAutoFit/>
          </a:bodyPr>
          <a:lstStyle/>
          <a:p>
            <a:pPr algn="l"/>
            <a:r>
              <a:rPr sz="1400" b="1" i="0">
                <a:solidFill>
                  <a:srgbClr val="D4952A"/>
                </a:solidFill>
                <a:latin typeface="Calibri"/>
              </a:rPr>
              <a:t>WILLIAMS</a:t>
            </a:r>
          </a:p>
        </p:txBody>
      </p:sp>
      <p:sp>
        <p:nvSpPr>
          <p:cNvPr id="11" name="TextBox 10"/>
          <p:cNvSpPr txBox="1"/>
          <p:nvPr/>
        </p:nvSpPr>
        <p:spPr>
          <a:xfrm>
            <a:off x="896112" y="3547872"/>
            <a:ext cx="3063240" cy="2240280"/>
          </a:xfrm>
          <a:prstGeom prst="rect">
            <a:avLst/>
          </a:prstGeom>
          <a:noFill/>
        </p:spPr>
        <p:txBody>
          <a:bodyPr wrap="square">
            <a:spAutoFit/>
          </a:bodyPr>
          <a:lstStyle/>
          <a:p>
            <a:pPr algn="l"/>
            <a:r>
              <a:rPr sz="1300" b="0" i="0">
                <a:solidFill>
                  <a:srgbClr val="9A9AA8"/>
                </a:solidFill>
                <a:latin typeface="Calibri"/>
              </a:rPr>
              <a:t>Systems thinking must precede analytical execution — or you get flawless work on the wrong outcome. LFA: Impact → Outcomes → Outputs → Inputs.</a:t>
            </a:r>
          </a:p>
        </p:txBody>
      </p:sp>
      <p:sp>
        <p:nvSpPr>
          <p:cNvPr id="12" name="Rectangle 11"/>
          <p:cNvSpPr/>
          <p:nvPr/>
        </p:nvSpPr>
        <p:spPr>
          <a:xfrm>
            <a:off x="4343400" y="3017520"/>
            <a:ext cx="3474720" cy="292608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3017520"/>
            <a:ext cx="73152" cy="292608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9432" y="3182112"/>
            <a:ext cx="3108960" cy="365760"/>
          </a:xfrm>
          <a:prstGeom prst="rect">
            <a:avLst/>
          </a:prstGeom>
          <a:noFill/>
        </p:spPr>
        <p:txBody>
          <a:bodyPr wrap="square">
            <a:spAutoFit/>
          </a:bodyPr>
          <a:lstStyle/>
          <a:p>
            <a:pPr algn="l"/>
            <a:r>
              <a:rPr sz="1400" b="1" i="0">
                <a:solidFill>
                  <a:srgbClr val="D4952A"/>
                </a:solidFill>
                <a:latin typeface="Calibri"/>
              </a:rPr>
              <a:t>DEROSIAUX</a:t>
            </a:r>
          </a:p>
        </p:txBody>
      </p:sp>
      <p:sp>
        <p:nvSpPr>
          <p:cNvPr id="15" name="TextBox 14"/>
          <p:cNvSpPr txBox="1"/>
          <p:nvPr/>
        </p:nvSpPr>
        <p:spPr>
          <a:xfrm>
            <a:off x="4599432" y="3547872"/>
            <a:ext cx="3063240" cy="2240280"/>
          </a:xfrm>
          <a:prstGeom prst="rect">
            <a:avLst/>
          </a:prstGeom>
          <a:noFill/>
        </p:spPr>
        <p:txBody>
          <a:bodyPr wrap="square">
            <a:spAutoFit/>
          </a:bodyPr>
          <a:lstStyle/>
          <a:p>
            <a:pPr algn="l"/>
            <a:r>
              <a:rPr sz="1300" b="0" i="0">
                <a:solidFill>
                  <a:srgbClr val="9A9AA8"/>
                </a:solidFill>
                <a:latin typeface="Calibri"/>
              </a:rPr>
              <a:t>The agent’s epistemic environment must be designed before tasks are assigned. Highest-impact change is the constraints file, not PATH.</a:t>
            </a:r>
          </a:p>
        </p:txBody>
      </p:sp>
      <p:sp>
        <p:nvSpPr>
          <p:cNvPr id="16" name="Rectangle 15"/>
          <p:cNvSpPr/>
          <p:nvPr/>
        </p:nvSpPr>
        <p:spPr>
          <a:xfrm>
            <a:off x="8046720" y="3017520"/>
            <a:ext cx="3474720" cy="292608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3017520"/>
            <a:ext cx="73152" cy="292608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3182112"/>
            <a:ext cx="3108960" cy="365760"/>
          </a:xfrm>
          <a:prstGeom prst="rect">
            <a:avLst/>
          </a:prstGeom>
          <a:noFill/>
        </p:spPr>
        <p:txBody>
          <a:bodyPr wrap="square">
            <a:spAutoFit/>
          </a:bodyPr>
          <a:lstStyle/>
          <a:p>
            <a:pPr algn="l"/>
            <a:r>
              <a:rPr sz="1400" b="1" i="0">
                <a:solidFill>
                  <a:srgbClr val="D4952A"/>
                </a:solidFill>
                <a:latin typeface="Calibri"/>
              </a:rPr>
              <a:t>KOE</a:t>
            </a:r>
          </a:p>
        </p:txBody>
      </p:sp>
      <p:sp>
        <p:nvSpPr>
          <p:cNvPr id="19" name="TextBox 18"/>
          <p:cNvSpPr txBox="1"/>
          <p:nvPr/>
        </p:nvSpPr>
        <p:spPr>
          <a:xfrm>
            <a:off x="8302752" y="3547872"/>
            <a:ext cx="3063240" cy="2240280"/>
          </a:xfrm>
          <a:prstGeom prst="rect">
            <a:avLst/>
          </a:prstGeom>
          <a:noFill/>
        </p:spPr>
        <p:txBody>
          <a:bodyPr wrap="square">
            <a:spAutoFit/>
          </a:bodyPr>
          <a:lstStyle/>
          <a:p>
            <a:pPr algn="l"/>
            <a:r>
              <a:rPr sz="1300" b="0" i="0">
                <a:solidFill>
                  <a:srgbClr val="9A9AA8"/>
                </a:solidFill>
                <a:latin typeface="Calibri"/>
              </a:rPr>
              <a:t>AI is leverage for skilled humans. It amplifies direction. Trust is the moat. The person directing it is where the magic lies.</a:t>
            </a:r>
          </a:p>
        </p:txBody>
      </p:sp>
      <p:sp>
        <p:nvSpPr>
          <p:cNvPr id="20" name="Rectangle 19"/>
          <p:cNvSpPr/>
          <p:nvPr/>
        </p:nvSpPr>
        <p:spPr>
          <a:xfrm>
            <a:off x="0" y="6656832"/>
            <a:ext cx="12191695" cy="201168"/>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656832"/>
            <a:ext cx="7315200" cy="201168"/>
          </a:xfrm>
          <a:prstGeom prst="rect">
            <a:avLst/>
          </a:prstGeom>
          <a:noFill/>
        </p:spPr>
        <p:txBody>
          <a:bodyPr wrap="square">
            <a:spAutoFit/>
          </a:bodyPr>
          <a:lstStyle/>
          <a:p>
            <a:pPr algn="l"/>
            <a:r>
              <a:rPr sz="900" b="1" i="0">
                <a:solidFill>
                  <a:srgbClr val="09090A"/>
                </a:solidFill>
                <a:latin typeface="Calibri"/>
              </a:rPr>
              <a:t>LOG_ON  ·  Lagos  ·  Direction infrastructure for African AI</a:t>
            </a:r>
          </a:p>
        </p:txBody>
      </p:sp>
      <p:sp>
        <p:nvSpPr>
          <p:cNvPr id="22" name="TextBox 21"/>
          <p:cNvSpPr txBox="1"/>
          <p:nvPr/>
        </p:nvSpPr>
        <p:spPr>
          <a:xfrm>
            <a:off x="10424160" y="6656832"/>
            <a:ext cx="1371600" cy="201168"/>
          </a:xfrm>
          <a:prstGeom prst="rect">
            <a:avLst/>
          </a:prstGeom>
          <a:noFill/>
        </p:spPr>
        <p:txBody>
          <a:bodyPr wrap="square">
            <a:spAutoFit/>
          </a:bodyPr>
          <a:lstStyle/>
          <a:p>
            <a:pPr algn="r"/>
            <a:r>
              <a:rPr sz="900" b="1" i="0">
                <a:solidFill>
                  <a:srgbClr val="09090A"/>
                </a:solidFill>
                <a:latin typeface="Calibri"/>
              </a:rPr>
              <a:t>03 / 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5486400" cy="274320"/>
          </a:xfrm>
          <a:prstGeom prst="rect">
            <a:avLst/>
          </a:prstGeom>
          <a:noFill/>
        </p:spPr>
        <p:txBody>
          <a:bodyPr wrap="square">
            <a:spAutoFit/>
          </a:bodyPr>
          <a:lstStyle/>
          <a:p>
            <a:pPr algn="l"/>
            <a:r>
              <a:rPr sz="1100" b="1" i="0">
                <a:solidFill>
                  <a:srgbClr val="D4952A"/>
                </a:solidFill>
                <a:latin typeface="Calibri"/>
              </a:rPr>
              <a:t>LOG_ON</a:t>
            </a:r>
          </a:p>
        </p:txBody>
      </p:sp>
      <p:sp>
        <p:nvSpPr>
          <p:cNvPr id="5" name="TextBox 4"/>
          <p:cNvSpPr txBox="1"/>
          <p:nvPr/>
        </p:nvSpPr>
        <p:spPr>
          <a:xfrm>
            <a:off x="5943600" y="201168"/>
            <a:ext cx="5760720" cy="274320"/>
          </a:xfrm>
          <a:prstGeom prst="rect">
            <a:avLst/>
          </a:prstGeom>
          <a:noFill/>
        </p:spPr>
        <p:txBody>
          <a:bodyPr wrap="square">
            <a:spAutoFit/>
          </a:bodyPr>
          <a:lstStyle/>
          <a:p>
            <a:pPr algn="r"/>
            <a:r>
              <a:rPr sz="1100" b="0" i="0">
                <a:solidFill>
                  <a:srgbClr val="5A5A65"/>
                </a:solidFill>
                <a:latin typeface="Calibri"/>
              </a:rPr>
              <a:t>SIX SYNTHESIS THREADS</a:t>
            </a:r>
          </a:p>
        </p:txBody>
      </p:sp>
      <p:sp>
        <p:nvSpPr>
          <p:cNvPr id="6" name="TextBox 5"/>
          <p:cNvSpPr txBox="1"/>
          <p:nvPr/>
        </p:nvSpPr>
        <p:spPr>
          <a:xfrm>
            <a:off x="640080" y="960120"/>
            <a:ext cx="10972800" cy="548640"/>
          </a:xfrm>
          <a:prstGeom prst="rect">
            <a:avLst/>
          </a:prstGeom>
          <a:noFill/>
        </p:spPr>
        <p:txBody>
          <a:bodyPr wrap="square">
            <a:spAutoFit/>
          </a:bodyPr>
          <a:lstStyle/>
          <a:p>
            <a:pPr algn="l"/>
            <a:r>
              <a:rPr sz="2800" b="1" i="0">
                <a:solidFill>
                  <a:srgbClr val="F4F4F8"/>
                </a:solidFill>
                <a:latin typeface="Georgia"/>
              </a:rPr>
              <a:t>One failure, three scales</a:t>
            </a:r>
          </a:p>
        </p:txBody>
      </p:sp>
      <p:sp>
        <p:nvSpPr>
          <p:cNvPr id="7" name="Rectangle 6"/>
          <p:cNvSpPr/>
          <p:nvPr/>
        </p:nvSpPr>
        <p:spPr>
          <a:xfrm>
            <a:off x="640080" y="1737360"/>
            <a:ext cx="3566160" cy="201168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737360"/>
            <a:ext cx="73152" cy="201168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901952"/>
            <a:ext cx="3200400" cy="365760"/>
          </a:xfrm>
          <a:prstGeom prst="rect">
            <a:avLst/>
          </a:prstGeom>
          <a:noFill/>
        </p:spPr>
        <p:txBody>
          <a:bodyPr wrap="square">
            <a:spAutoFit/>
          </a:bodyPr>
          <a:lstStyle/>
          <a:p>
            <a:pPr algn="l"/>
            <a:r>
              <a:rPr sz="1400" b="1" i="0">
                <a:solidFill>
                  <a:srgbClr val="D4952A"/>
                </a:solidFill>
                <a:latin typeface="Calibri"/>
              </a:rPr>
              <a:t>01  Amplification law</a:t>
            </a:r>
          </a:p>
        </p:txBody>
      </p:sp>
      <p:sp>
        <p:nvSpPr>
          <p:cNvPr id="10" name="TextBox 9"/>
          <p:cNvSpPr txBox="1"/>
          <p:nvPr/>
        </p:nvSpPr>
        <p:spPr>
          <a:xfrm>
            <a:off x="896112" y="2267712"/>
            <a:ext cx="3154680" cy="1325880"/>
          </a:xfrm>
          <a:prstGeom prst="rect">
            <a:avLst/>
          </a:prstGeom>
          <a:noFill/>
        </p:spPr>
        <p:txBody>
          <a:bodyPr wrap="square">
            <a:spAutoFit/>
          </a:bodyPr>
          <a:lstStyle/>
          <a:p>
            <a:pPr algn="l"/>
            <a:r>
              <a:rPr sz="1300" b="0" i="0">
                <a:solidFill>
                  <a:srgbClr val="9A9AA8"/>
                </a:solidFill>
                <a:latin typeface="Calibri"/>
              </a:rPr>
              <a:t>AI amplifies whatever direction it is given — correct or wrong, equally.</a:t>
            </a:r>
          </a:p>
        </p:txBody>
      </p:sp>
      <p:sp>
        <p:nvSpPr>
          <p:cNvPr id="11" name="Rectangle 10"/>
          <p:cNvSpPr/>
          <p:nvPr/>
        </p:nvSpPr>
        <p:spPr>
          <a:xfrm>
            <a:off x="4389120" y="1737360"/>
            <a:ext cx="3566160" cy="201168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737360"/>
            <a:ext cx="73152" cy="201168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5152" y="1901952"/>
            <a:ext cx="3200400" cy="365760"/>
          </a:xfrm>
          <a:prstGeom prst="rect">
            <a:avLst/>
          </a:prstGeom>
          <a:noFill/>
        </p:spPr>
        <p:txBody>
          <a:bodyPr wrap="square">
            <a:spAutoFit/>
          </a:bodyPr>
          <a:lstStyle/>
          <a:p>
            <a:pPr algn="l"/>
            <a:r>
              <a:rPr sz="1400" b="1" i="0">
                <a:solidFill>
                  <a:srgbClr val="D4952A"/>
                </a:solidFill>
                <a:latin typeface="Calibri"/>
              </a:rPr>
              <a:t>02  Trust as architecture</a:t>
            </a:r>
          </a:p>
        </p:txBody>
      </p:sp>
      <p:sp>
        <p:nvSpPr>
          <p:cNvPr id="14" name="TextBox 13"/>
          <p:cNvSpPr txBox="1"/>
          <p:nvPr/>
        </p:nvSpPr>
        <p:spPr>
          <a:xfrm>
            <a:off x="4645152" y="2267712"/>
            <a:ext cx="3154680" cy="1325880"/>
          </a:xfrm>
          <a:prstGeom prst="rect">
            <a:avLst/>
          </a:prstGeom>
          <a:noFill/>
        </p:spPr>
        <p:txBody>
          <a:bodyPr wrap="square">
            <a:spAutoFit/>
          </a:bodyPr>
          <a:lstStyle/>
          <a:p>
            <a:pPr algn="l"/>
            <a:r>
              <a:rPr sz="1300" b="0" i="0">
                <a:solidFill>
                  <a:srgbClr val="9A9AA8"/>
                </a:solidFill>
                <a:latin typeface="Calibri"/>
              </a:rPr>
              <a:t>Once execution is commoditised, trust is the only durable moat.</a:t>
            </a:r>
          </a:p>
        </p:txBody>
      </p:sp>
      <p:sp>
        <p:nvSpPr>
          <p:cNvPr id="15" name="Rectangle 14"/>
          <p:cNvSpPr/>
          <p:nvPr/>
        </p:nvSpPr>
        <p:spPr>
          <a:xfrm>
            <a:off x="8138159" y="1737360"/>
            <a:ext cx="3566160" cy="201168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59" y="1737360"/>
            <a:ext cx="73152" cy="201168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4191" y="1901952"/>
            <a:ext cx="3200400" cy="365760"/>
          </a:xfrm>
          <a:prstGeom prst="rect">
            <a:avLst/>
          </a:prstGeom>
          <a:noFill/>
        </p:spPr>
        <p:txBody>
          <a:bodyPr wrap="square">
            <a:spAutoFit/>
          </a:bodyPr>
          <a:lstStyle/>
          <a:p>
            <a:pPr algn="l"/>
            <a:r>
              <a:rPr sz="1400" b="1" i="0">
                <a:solidFill>
                  <a:srgbClr val="D4952A"/>
                </a:solidFill>
                <a:latin typeface="Calibri"/>
              </a:rPr>
              <a:t>03  Skill ceiling rises</a:t>
            </a:r>
          </a:p>
        </p:txBody>
      </p:sp>
      <p:sp>
        <p:nvSpPr>
          <p:cNvPr id="18" name="TextBox 17"/>
          <p:cNvSpPr txBox="1"/>
          <p:nvPr/>
        </p:nvSpPr>
        <p:spPr>
          <a:xfrm>
            <a:off x="8394191" y="2267712"/>
            <a:ext cx="3154680" cy="1325880"/>
          </a:xfrm>
          <a:prstGeom prst="rect">
            <a:avLst/>
          </a:prstGeom>
          <a:noFill/>
        </p:spPr>
        <p:txBody>
          <a:bodyPr wrap="square">
            <a:spAutoFit/>
          </a:bodyPr>
          <a:lstStyle/>
          <a:p>
            <a:pPr algn="l"/>
            <a:r>
              <a:rPr sz="1300" b="0" i="0">
                <a:solidFill>
                  <a:srgbClr val="9A9AA8"/>
                </a:solidFill>
                <a:latin typeface="Calibri"/>
              </a:rPr>
              <a:t>Lower barrier, higher cap. Advantage concentrates among directors.</a:t>
            </a:r>
          </a:p>
        </p:txBody>
      </p:sp>
      <p:sp>
        <p:nvSpPr>
          <p:cNvPr id="19" name="Rectangle 18"/>
          <p:cNvSpPr/>
          <p:nvPr/>
        </p:nvSpPr>
        <p:spPr>
          <a:xfrm>
            <a:off x="640080" y="3931920"/>
            <a:ext cx="3566160" cy="201168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3931920"/>
            <a:ext cx="73152" cy="201168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096512"/>
            <a:ext cx="3200400" cy="365760"/>
          </a:xfrm>
          <a:prstGeom prst="rect">
            <a:avLst/>
          </a:prstGeom>
          <a:noFill/>
        </p:spPr>
        <p:txBody>
          <a:bodyPr wrap="square">
            <a:spAutoFit/>
          </a:bodyPr>
          <a:lstStyle/>
          <a:p>
            <a:pPr algn="l"/>
            <a:r>
              <a:rPr sz="1400" b="1" i="0">
                <a:solidFill>
                  <a:srgbClr val="D4952A"/>
                </a:solidFill>
                <a:latin typeface="Calibri"/>
              </a:rPr>
              <a:t>04  Iteration is the system</a:t>
            </a:r>
          </a:p>
        </p:txBody>
      </p:sp>
      <p:sp>
        <p:nvSpPr>
          <p:cNvPr id="22" name="TextBox 21"/>
          <p:cNvSpPr txBox="1"/>
          <p:nvPr/>
        </p:nvSpPr>
        <p:spPr>
          <a:xfrm>
            <a:off x="896112" y="4462272"/>
            <a:ext cx="3154680" cy="1325880"/>
          </a:xfrm>
          <a:prstGeom prst="rect">
            <a:avLst/>
          </a:prstGeom>
          <a:noFill/>
        </p:spPr>
        <p:txBody>
          <a:bodyPr wrap="square">
            <a:spAutoFit/>
          </a:bodyPr>
          <a:lstStyle/>
          <a:p>
            <a:pPr algn="l"/>
            <a:r>
              <a:rPr sz="1300" b="0" i="0">
                <a:solidFill>
                  <a:srgbClr val="9A9AA8"/>
                </a:solidFill>
                <a:latin typeface="Calibri"/>
              </a:rPr>
              <a:t>Close the loop at CLAUDE.md / LFA, not at the prompt.</a:t>
            </a:r>
          </a:p>
        </p:txBody>
      </p:sp>
      <p:sp>
        <p:nvSpPr>
          <p:cNvPr id="23" name="Rectangle 22"/>
          <p:cNvSpPr/>
          <p:nvPr/>
        </p:nvSpPr>
        <p:spPr>
          <a:xfrm>
            <a:off x="4389120" y="3931920"/>
            <a:ext cx="3566160" cy="201168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89120" y="3931920"/>
            <a:ext cx="73152" cy="201168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5152" y="4096512"/>
            <a:ext cx="3200400" cy="365760"/>
          </a:xfrm>
          <a:prstGeom prst="rect">
            <a:avLst/>
          </a:prstGeom>
          <a:noFill/>
        </p:spPr>
        <p:txBody>
          <a:bodyPr wrap="square">
            <a:spAutoFit/>
          </a:bodyPr>
          <a:lstStyle/>
          <a:p>
            <a:pPr algn="l"/>
            <a:r>
              <a:rPr sz="1400" b="1" i="0">
                <a:solidFill>
                  <a:srgbClr val="D4952A"/>
                </a:solidFill>
                <a:latin typeface="Calibri"/>
              </a:rPr>
              <a:t>05  Cognitive vs execution</a:t>
            </a:r>
          </a:p>
        </p:txBody>
      </p:sp>
      <p:sp>
        <p:nvSpPr>
          <p:cNvPr id="26" name="TextBox 25"/>
          <p:cNvSpPr txBox="1"/>
          <p:nvPr/>
        </p:nvSpPr>
        <p:spPr>
          <a:xfrm>
            <a:off x="4645152" y="4462272"/>
            <a:ext cx="3154680" cy="1325880"/>
          </a:xfrm>
          <a:prstGeom prst="rect">
            <a:avLst/>
          </a:prstGeom>
          <a:noFill/>
        </p:spPr>
        <p:txBody>
          <a:bodyPr wrap="square">
            <a:spAutoFit/>
          </a:bodyPr>
          <a:lstStyle/>
          <a:p>
            <a:pPr algn="l"/>
            <a:r>
              <a:rPr sz="1300" b="0" i="0">
                <a:solidFill>
                  <a:srgbClr val="9A9AA8"/>
                </a:solidFill>
                <a:latin typeface="Calibri"/>
              </a:rPr>
              <a:t>PAL and SAE change what you can think. ripgrep only changes speed.</a:t>
            </a:r>
          </a:p>
        </p:txBody>
      </p:sp>
      <p:sp>
        <p:nvSpPr>
          <p:cNvPr id="27" name="Rectangle 26"/>
          <p:cNvSpPr/>
          <p:nvPr/>
        </p:nvSpPr>
        <p:spPr>
          <a:xfrm>
            <a:off x="8138159" y="3931920"/>
            <a:ext cx="3566160" cy="201168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38159" y="3931920"/>
            <a:ext cx="73152" cy="201168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94191" y="4096512"/>
            <a:ext cx="3200400" cy="365760"/>
          </a:xfrm>
          <a:prstGeom prst="rect">
            <a:avLst/>
          </a:prstGeom>
          <a:noFill/>
        </p:spPr>
        <p:txBody>
          <a:bodyPr wrap="square">
            <a:spAutoFit/>
          </a:bodyPr>
          <a:lstStyle/>
          <a:p>
            <a:pPr algn="l"/>
            <a:r>
              <a:rPr sz="1400" b="1" i="0">
                <a:solidFill>
                  <a:srgbClr val="D4952A"/>
                </a:solidFill>
                <a:latin typeface="Calibri"/>
              </a:rPr>
              <a:t>06  Context as value</a:t>
            </a:r>
          </a:p>
        </p:txBody>
      </p:sp>
      <p:sp>
        <p:nvSpPr>
          <p:cNvPr id="30" name="TextBox 29"/>
          <p:cNvSpPr txBox="1"/>
          <p:nvPr/>
        </p:nvSpPr>
        <p:spPr>
          <a:xfrm>
            <a:off x="8394191" y="4462272"/>
            <a:ext cx="3154680" cy="1325880"/>
          </a:xfrm>
          <a:prstGeom prst="rect">
            <a:avLst/>
          </a:prstGeom>
          <a:noFill/>
        </p:spPr>
        <p:txBody>
          <a:bodyPr wrap="square">
            <a:spAutoFit/>
          </a:bodyPr>
          <a:lstStyle/>
          <a:p>
            <a:pPr algn="l"/>
            <a:r>
              <a:rPr sz="1300" b="0" i="0">
                <a:solidFill>
                  <a:srgbClr val="9A9AA8"/>
                </a:solidFill>
                <a:latin typeface="Calibri"/>
              </a:rPr>
              <a:t>Richer context raises the quality ceiling. This is Cultural Bridge, operationalised.</a:t>
            </a:r>
          </a:p>
        </p:txBody>
      </p:sp>
      <p:sp>
        <p:nvSpPr>
          <p:cNvPr id="31" name="Rectangle 30"/>
          <p:cNvSpPr/>
          <p:nvPr/>
        </p:nvSpPr>
        <p:spPr>
          <a:xfrm>
            <a:off x="0" y="6656832"/>
            <a:ext cx="12191695" cy="201168"/>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6656832"/>
            <a:ext cx="7315200" cy="201168"/>
          </a:xfrm>
          <a:prstGeom prst="rect">
            <a:avLst/>
          </a:prstGeom>
          <a:noFill/>
        </p:spPr>
        <p:txBody>
          <a:bodyPr wrap="square">
            <a:spAutoFit/>
          </a:bodyPr>
          <a:lstStyle/>
          <a:p>
            <a:pPr algn="l"/>
            <a:r>
              <a:rPr sz="900" b="1" i="0">
                <a:solidFill>
                  <a:srgbClr val="09090A"/>
                </a:solidFill>
                <a:latin typeface="Calibri"/>
              </a:rPr>
              <a:t>LOG_ON  ·  Lagos  ·  Direction infrastructure for African AI</a:t>
            </a:r>
          </a:p>
        </p:txBody>
      </p:sp>
      <p:sp>
        <p:nvSpPr>
          <p:cNvPr id="33" name="TextBox 32"/>
          <p:cNvSpPr txBox="1"/>
          <p:nvPr/>
        </p:nvSpPr>
        <p:spPr>
          <a:xfrm>
            <a:off x="10424160" y="6656832"/>
            <a:ext cx="1371600" cy="201168"/>
          </a:xfrm>
          <a:prstGeom prst="rect">
            <a:avLst/>
          </a:prstGeom>
          <a:noFill/>
        </p:spPr>
        <p:txBody>
          <a:bodyPr wrap="square">
            <a:spAutoFit/>
          </a:bodyPr>
          <a:lstStyle/>
          <a:p>
            <a:pPr algn="r"/>
            <a:r>
              <a:rPr sz="900" b="1" i="0">
                <a:solidFill>
                  <a:srgbClr val="09090A"/>
                </a:solidFill>
                <a:latin typeface="Calibri"/>
              </a:rPr>
              <a:t>04 / 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5486400" cy="274320"/>
          </a:xfrm>
          <a:prstGeom prst="rect">
            <a:avLst/>
          </a:prstGeom>
          <a:noFill/>
        </p:spPr>
        <p:txBody>
          <a:bodyPr wrap="square">
            <a:spAutoFit/>
          </a:bodyPr>
          <a:lstStyle/>
          <a:p>
            <a:pPr algn="l"/>
            <a:r>
              <a:rPr sz="1100" b="1" i="0">
                <a:solidFill>
                  <a:srgbClr val="D4952A"/>
                </a:solidFill>
                <a:latin typeface="Calibri"/>
              </a:rPr>
              <a:t>LOG_ON</a:t>
            </a:r>
          </a:p>
        </p:txBody>
      </p:sp>
      <p:sp>
        <p:nvSpPr>
          <p:cNvPr id="5" name="TextBox 4"/>
          <p:cNvSpPr txBox="1"/>
          <p:nvPr/>
        </p:nvSpPr>
        <p:spPr>
          <a:xfrm>
            <a:off x="5943600" y="201168"/>
            <a:ext cx="5760720" cy="274320"/>
          </a:xfrm>
          <a:prstGeom prst="rect">
            <a:avLst/>
          </a:prstGeom>
          <a:noFill/>
        </p:spPr>
        <p:txBody>
          <a:bodyPr wrap="square">
            <a:spAutoFit/>
          </a:bodyPr>
          <a:lstStyle/>
          <a:p>
            <a:pPr algn="r"/>
            <a:r>
              <a:rPr sz="1100" b="0" i="0">
                <a:solidFill>
                  <a:srgbClr val="5A5A65"/>
                </a:solidFill>
                <a:latin typeface="Calibri"/>
              </a:rPr>
              <a:t>REC 1  ·  LOGICAL FRAMEWORK</a:t>
            </a:r>
          </a:p>
        </p:txBody>
      </p:sp>
      <p:sp>
        <p:nvSpPr>
          <p:cNvPr id="6" name="TextBox 5"/>
          <p:cNvSpPr txBox="1"/>
          <p:nvPr/>
        </p:nvSpPr>
        <p:spPr>
          <a:xfrm>
            <a:off x="640080" y="960120"/>
            <a:ext cx="10972800" cy="502920"/>
          </a:xfrm>
          <a:prstGeom prst="rect">
            <a:avLst/>
          </a:prstGeom>
          <a:noFill/>
        </p:spPr>
        <p:txBody>
          <a:bodyPr wrap="square">
            <a:spAutoFit/>
          </a:bodyPr>
          <a:lstStyle/>
          <a:p>
            <a:pPr algn="l"/>
            <a:r>
              <a:rPr sz="2800" b="1" i="0">
                <a:solidFill>
                  <a:srgbClr val="F4F4F8"/>
                </a:solidFill>
                <a:latin typeface="Georgia"/>
              </a:rPr>
              <a:t>LOG_ON’s logic chain</a:t>
            </a:r>
          </a:p>
        </p:txBody>
      </p:sp>
      <p:sp>
        <p:nvSpPr>
          <p:cNvPr id="7" name="Rectangle 6"/>
          <p:cNvSpPr/>
          <p:nvPr/>
        </p:nvSpPr>
        <p:spPr>
          <a:xfrm>
            <a:off x="640080" y="1600200"/>
            <a:ext cx="10881360" cy="987552"/>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00200"/>
            <a:ext cx="91440" cy="9875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64792"/>
            <a:ext cx="2011680" cy="640080"/>
          </a:xfrm>
          <a:prstGeom prst="rect">
            <a:avLst/>
          </a:prstGeom>
          <a:noFill/>
        </p:spPr>
        <p:txBody>
          <a:bodyPr wrap="square">
            <a:spAutoFit/>
          </a:bodyPr>
          <a:lstStyle/>
          <a:p>
            <a:pPr algn="l"/>
            <a:r>
              <a:rPr sz="1400" b="1" i="0">
                <a:solidFill>
                  <a:srgbClr val="D4952A"/>
                </a:solidFill>
                <a:latin typeface="Calibri"/>
              </a:rPr>
              <a:t>IMPACT</a:t>
            </a:r>
          </a:p>
        </p:txBody>
      </p:sp>
      <p:sp>
        <p:nvSpPr>
          <p:cNvPr id="10" name="TextBox 9"/>
          <p:cNvSpPr txBox="1"/>
          <p:nvPr/>
        </p:nvSpPr>
        <p:spPr>
          <a:xfrm>
            <a:off x="3017520" y="1801368"/>
            <a:ext cx="8229600" cy="640080"/>
          </a:xfrm>
          <a:prstGeom prst="rect">
            <a:avLst/>
          </a:prstGeom>
          <a:noFill/>
        </p:spPr>
        <p:txBody>
          <a:bodyPr wrap="square">
            <a:spAutoFit/>
          </a:bodyPr>
          <a:lstStyle/>
          <a:p>
            <a:pPr algn="l"/>
            <a:r>
              <a:rPr sz="1500" b="0" i="0">
                <a:solidFill>
                  <a:srgbClr val="E8E8F0"/>
                </a:solidFill>
                <a:latin typeface="Calibri"/>
              </a:rPr>
              <a:t>African cognitive sovereignty. Frontier models reason in African frameworks as first-class capabilities.</a:t>
            </a:r>
          </a:p>
        </p:txBody>
      </p:sp>
      <p:sp>
        <p:nvSpPr>
          <p:cNvPr id="11" name="Rectangle 10"/>
          <p:cNvSpPr/>
          <p:nvPr/>
        </p:nvSpPr>
        <p:spPr>
          <a:xfrm>
            <a:off x="640080" y="2697480"/>
            <a:ext cx="10881360" cy="987552"/>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2697480"/>
            <a:ext cx="91440" cy="9875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862072"/>
            <a:ext cx="2011680" cy="640080"/>
          </a:xfrm>
          <a:prstGeom prst="rect">
            <a:avLst/>
          </a:prstGeom>
          <a:noFill/>
        </p:spPr>
        <p:txBody>
          <a:bodyPr wrap="square">
            <a:spAutoFit/>
          </a:bodyPr>
          <a:lstStyle/>
          <a:p>
            <a:pPr algn="l"/>
            <a:r>
              <a:rPr sz="1400" b="1" i="0">
                <a:solidFill>
                  <a:srgbClr val="D4952A"/>
                </a:solidFill>
                <a:latin typeface="Calibri"/>
              </a:rPr>
              <a:t>OUTCOMES</a:t>
            </a:r>
          </a:p>
        </p:txBody>
      </p:sp>
      <p:sp>
        <p:nvSpPr>
          <p:cNvPr id="14" name="TextBox 13"/>
          <p:cNvSpPr txBox="1"/>
          <p:nvPr/>
        </p:nvSpPr>
        <p:spPr>
          <a:xfrm>
            <a:off x="3017520" y="2898648"/>
            <a:ext cx="8229600" cy="640080"/>
          </a:xfrm>
          <a:prstGeom prst="rect">
            <a:avLst/>
          </a:prstGeom>
          <a:noFill/>
        </p:spPr>
        <p:txBody>
          <a:bodyPr wrap="square">
            <a:spAutoFit/>
          </a:bodyPr>
          <a:lstStyle/>
          <a:p>
            <a:pPr algn="l"/>
            <a:r>
              <a:rPr sz="1500" b="0" i="0">
                <a:solidFill>
                  <a:srgbClr val="E8E8F0"/>
                </a:solidFill>
                <a:latin typeface="Calibri"/>
              </a:rPr>
              <a:t>Research funded and cited. Paying clients. Public body of work that is the reference voice.</a:t>
            </a:r>
          </a:p>
        </p:txBody>
      </p:sp>
      <p:sp>
        <p:nvSpPr>
          <p:cNvPr id="15" name="Rectangle 14"/>
          <p:cNvSpPr/>
          <p:nvPr/>
        </p:nvSpPr>
        <p:spPr>
          <a:xfrm>
            <a:off x="640080" y="3794760"/>
            <a:ext cx="10881360" cy="987552"/>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3794760"/>
            <a:ext cx="91440" cy="9875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959352"/>
            <a:ext cx="2011680" cy="640080"/>
          </a:xfrm>
          <a:prstGeom prst="rect">
            <a:avLst/>
          </a:prstGeom>
          <a:noFill/>
        </p:spPr>
        <p:txBody>
          <a:bodyPr wrap="square">
            <a:spAutoFit/>
          </a:bodyPr>
          <a:lstStyle/>
          <a:p>
            <a:pPr algn="l"/>
            <a:r>
              <a:rPr sz="1400" b="1" i="0">
                <a:solidFill>
                  <a:srgbClr val="D4952A"/>
                </a:solidFill>
                <a:latin typeface="Calibri"/>
              </a:rPr>
              <a:t>OUTPUTS</a:t>
            </a:r>
          </a:p>
        </p:txBody>
      </p:sp>
      <p:sp>
        <p:nvSpPr>
          <p:cNvPr id="18" name="TextBox 17"/>
          <p:cNvSpPr txBox="1"/>
          <p:nvPr/>
        </p:nvSpPr>
        <p:spPr>
          <a:xfrm>
            <a:off x="3017520" y="3995928"/>
            <a:ext cx="8229600" cy="640080"/>
          </a:xfrm>
          <a:prstGeom prst="rect">
            <a:avLst/>
          </a:prstGeom>
          <a:noFill/>
        </p:spPr>
        <p:txBody>
          <a:bodyPr wrap="square">
            <a:spAutoFit/>
          </a:bodyPr>
          <a:lstStyle/>
          <a:p>
            <a:pPr algn="l"/>
            <a:r>
              <a:rPr sz="1500" b="0" i="0">
                <a:solidFill>
                  <a:srgbClr val="E8E8F0"/>
                </a:solidFill>
                <a:latin typeface="Calibri"/>
              </a:rPr>
              <a:t>PAL, SAE maps, discourse benchmarks, audits, AgentBridge, essays, grant proposals.</a:t>
            </a:r>
          </a:p>
        </p:txBody>
      </p:sp>
      <p:sp>
        <p:nvSpPr>
          <p:cNvPr id="19" name="Rectangle 18"/>
          <p:cNvSpPr/>
          <p:nvPr/>
        </p:nvSpPr>
        <p:spPr>
          <a:xfrm>
            <a:off x="640080" y="4892040"/>
            <a:ext cx="10881360" cy="987552"/>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4892040"/>
            <a:ext cx="91440" cy="9875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056632"/>
            <a:ext cx="2011680" cy="640080"/>
          </a:xfrm>
          <a:prstGeom prst="rect">
            <a:avLst/>
          </a:prstGeom>
          <a:noFill/>
        </p:spPr>
        <p:txBody>
          <a:bodyPr wrap="square">
            <a:spAutoFit/>
          </a:bodyPr>
          <a:lstStyle/>
          <a:p>
            <a:pPr algn="l"/>
            <a:r>
              <a:rPr sz="1400" b="1" i="0">
                <a:solidFill>
                  <a:srgbClr val="D4952A"/>
                </a:solidFill>
                <a:latin typeface="Calibri"/>
              </a:rPr>
              <a:t>INPUTS</a:t>
            </a:r>
          </a:p>
        </p:txBody>
      </p:sp>
      <p:sp>
        <p:nvSpPr>
          <p:cNvPr id="22" name="TextBox 21"/>
          <p:cNvSpPr txBox="1"/>
          <p:nvPr/>
        </p:nvSpPr>
        <p:spPr>
          <a:xfrm>
            <a:off x="3017520" y="5093208"/>
            <a:ext cx="8229600" cy="640080"/>
          </a:xfrm>
          <a:prstGeom prst="rect">
            <a:avLst/>
          </a:prstGeom>
          <a:noFill/>
        </p:spPr>
        <p:txBody>
          <a:bodyPr wrap="square">
            <a:spAutoFit/>
          </a:bodyPr>
          <a:lstStyle/>
          <a:p>
            <a:pPr algn="l"/>
            <a:r>
              <a:rPr sz="1500" b="0" i="0">
                <a:solidFill>
                  <a:srgbClr val="E8E8F0"/>
                </a:solidFill>
                <a:latin typeface="Calibri"/>
              </a:rPr>
              <a:t>Founder time. Lagos deployment. 25 years of systems operations. AgentBase in production.</a:t>
            </a:r>
          </a:p>
        </p:txBody>
      </p:sp>
      <p:sp>
        <p:nvSpPr>
          <p:cNvPr id="23" name="Rectangle 22"/>
          <p:cNvSpPr/>
          <p:nvPr/>
        </p:nvSpPr>
        <p:spPr>
          <a:xfrm>
            <a:off x="0" y="6656832"/>
            <a:ext cx="12191695" cy="201168"/>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6656832"/>
            <a:ext cx="7315200" cy="201168"/>
          </a:xfrm>
          <a:prstGeom prst="rect">
            <a:avLst/>
          </a:prstGeom>
          <a:noFill/>
        </p:spPr>
        <p:txBody>
          <a:bodyPr wrap="square">
            <a:spAutoFit/>
          </a:bodyPr>
          <a:lstStyle/>
          <a:p>
            <a:pPr algn="l"/>
            <a:r>
              <a:rPr sz="900" b="1" i="0">
                <a:solidFill>
                  <a:srgbClr val="09090A"/>
                </a:solidFill>
                <a:latin typeface="Calibri"/>
              </a:rPr>
              <a:t>LOG_ON  ·  Lagos  ·  Direction infrastructure for African AI</a:t>
            </a:r>
          </a:p>
        </p:txBody>
      </p:sp>
      <p:sp>
        <p:nvSpPr>
          <p:cNvPr id="25" name="TextBox 24"/>
          <p:cNvSpPr txBox="1"/>
          <p:nvPr/>
        </p:nvSpPr>
        <p:spPr>
          <a:xfrm>
            <a:off x="10424160" y="6656832"/>
            <a:ext cx="1371600" cy="201168"/>
          </a:xfrm>
          <a:prstGeom prst="rect">
            <a:avLst/>
          </a:prstGeom>
          <a:noFill/>
        </p:spPr>
        <p:txBody>
          <a:bodyPr wrap="square">
            <a:spAutoFit/>
          </a:bodyPr>
          <a:lstStyle/>
          <a:p>
            <a:pPr algn="r"/>
            <a:r>
              <a:rPr sz="900" b="1" i="0">
                <a:solidFill>
                  <a:srgbClr val="09090A"/>
                </a:solidFill>
                <a:latin typeface="Calibri"/>
              </a:rPr>
              <a:t>05 / 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5486400" cy="274320"/>
          </a:xfrm>
          <a:prstGeom prst="rect">
            <a:avLst/>
          </a:prstGeom>
          <a:noFill/>
        </p:spPr>
        <p:txBody>
          <a:bodyPr wrap="square">
            <a:spAutoFit/>
          </a:bodyPr>
          <a:lstStyle/>
          <a:p>
            <a:pPr algn="l"/>
            <a:r>
              <a:rPr sz="1100" b="1" i="0">
                <a:solidFill>
                  <a:srgbClr val="D4952A"/>
                </a:solidFill>
                <a:latin typeface="Calibri"/>
              </a:rPr>
              <a:t>LOG_ON</a:t>
            </a:r>
          </a:p>
        </p:txBody>
      </p:sp>
      <p:sp>
        <p:nvSpPr>
          <p:cNvPr id="5" name="TextBox 4"/>
          <p:cNvSpPr txBox="1"/>
          <p:nvPr/>
        </p:nvSpPr>
        <p:spPr>
          <a:xfrm>
            <a:off x="5943600" y="201168"/>
            <a:ext cx="5760720" cy="274320"/>
          </a:xfrm>
          <a:prstGeom prst="rect">
            <a:avLst/>
          </a:prstGeom>
          <a:noFill/>
        </p:spPr>
        <p:txBody>
          <a:bodyPr wrap="square">
            <a:spAutoFit/>
          </a:bodyPr>
          <a:lstStyle/>
          <a:p>
            <a:pPr algn="r"/>
            <a:r>
              <a:rPr sz="1100" b="0" i="0">
                <a:solidFill>
                  <a:srgbClr val="5A5A65"/>
                </a:solidFill>
                <a:latin typeface="Calibri"/>
              </a:rPr>
              <a:t>MISSION</a:t>
            </a:r>
          </a:p>
        </p:txBody>
      </p:sp>
      <p:sp>
        <p:nvSpPr>
          <p:cNvPr id="6" name="TextBox 5"/>
          <p:cNvSpPr txBox="1"/>
          <p:nvPr/>
        </p:nvSpPr>
        <p:spPr>
          <a:xfrm>
            <a:off x="731520" y="1828800"/>
            <a:ext cx="10698480" cy="2926080"/>
          </a:xfrm>
          <a:prstGeom prst="rect">
            <a:avLst/>
          </a:prstGeom>
          <a:noFill/>
        </p:spPr>
        <p:txBody>
          <a:bodyPr wrap="square">
            <a:spAutoFit/>
          </a:bodyPr>
          <a:lstStyle/>
          <a:p>
            <a:pPr algn="l"/>
            <a:r>
              <a:rPr sz="2400" b="0" i="1">
                <a:solidFill>
                  <a:srgbClr val="F4F4F8"/>
                </a:solidFill>
                <a:latin typeface="Georgia"/>
              </a:rPr>
              <a:t>LOG_ON builds the direction infrastructure for African AI — the systems layer, the cognitive tooling, and the epistemological frameworks that make AI work for African contexts, African organisations, and African futures.</a:t>
            </a:r>
          </a:p>
        </p:txBody>
      </p:sp>
      <p:sp>
        <p:nvSpPr>
          <p:cNvPr id="7" name="Rectangle 6"/>
          <p:cNvSpPr/>
          <p:nvPr/>
        </p:nvSpPr>
        <p:spPr>
          <a:xfrm>
            <a:off x="0" y="6656832"/>
            <a:ext cx="12191695" cy="201168"/>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spAutoFit/>
          </a:bodyPr>
          <a:lstStyle/>
          <a:p>
            <a:pPr algn="l"/>
            <a:r>
              <a:rPr sz="900" b="1" i="0">
                <a:solidFill>
                  <a:srgbClr val="09090A"/>
                </a:solidFill>
                <a:latin typeface="Calibri"/>
              </a:rPr>
              <a:t>LOG_ON  ·  Lagos  ·  Direction infrastructure for African AI</a:t>
            </a:r>
          </a:p>
        </p:txBody>
      </p:sp>
      <p:sp>
        <p:nvSpPr>
          <p:cNvPr id="9" name="TextBox 8"/>
          <p:cNvSpPr txBox="1"/>
          <p:nvPr/>
        </p:nvSpPr>
        <p:spPr>
          <a:xfrm>
            <a:off x="10424160" y="6656832"/>
            <a:ext cx="1371600" cy="201168"/>
          </a:xfrm>
          <a:prstGeom prst="rect">
            <a:avLst/>
          </a:prstGeom>
          <a:noFill/>
        </p:spPr>
        <p:txBody>
          <a:bodyPr wrap="square">
            <a:spAutoFit/>
          </a:bodyPr>
          <a:lstStyle/>
          <a:p>
            <a:pPr algn="r"/>
            <a:r>
              <a:rPr sz="900" b="1" i="0">
                <a:solidFill>
                  <a:srgbClr val="09090A"/>
                </a:solidFill>
                <a:latin typeface="Calibri"/>
              </a:rPr>
              <a:t>06 / 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5486400" cy="274320"/>
          </a:xfrm>
          <a:prstGeom prst="rect">
            <a:avLst/>
          </a:prstGeom>
          <a:noFill/>
        </p:spPr>
        <p:txBody>
          <a:bodyPr wrap="square">
            <a:spAutoFit/>
          </a:bodyPr>
          <a:lstStyle/>
          <a:p>
            <a:pPr algn="l"/>
            <a:r>
              <a:rPr sz="1100" b="1" i="0">
                <a:solidFill>
                  <a:srgbClr val="D4952A"/>
                </a:solidFill>
                <a:latin typeface="Calibri"/>
              </a:rPr>
              <a:t>LOG_ON</a:t>
            </a:r>
          </a:p>
        </p:txBody>
      </p:sp>
      <p:sp>
        <p:nvSpPr>
          <p:cNvPr id="5" name="TextBox 4"/>
          <p:cNvSpPr txBox="1"/>
          <p:nvPr/>
        </p:nvSpPr>
        <p:spPr>
          <a:xfrm>
            <a:off x="5943600" y="201168"/>
            <a:ext cx="5760720" cy="274320"/>
          </a:xfrm>
          <a:prstGeom prst="rect">
            <a:avLst/>
          </a:prstGeom>
          <a:noFill/>
        </p:spPr>
        <p:txBody>
          <a:bodyPr wrap="square">
            <a:spAutoFit/>
          </a:bodyPr>
          <a:lstStyle/>
          <a:p>
            <a:pPr algn="r"/>
            <a:r>
              <a:rPr sz="1100" b="0" i="0">
                <a:solidFill>
                  <a:srgbClr val="5A5A65"/>
                </a:solidFill>
                <a:latin typeface="Calibri"/>
              </a:rPr>
              <a:t>REC 3  ·  OFFER STACK</a:t>
            </a:r>
          </a:p>
        </p:txBody>
      </p:sp>
      <p:sp>
        <p:nvSpPr>
          <p:cNvPr id="6" name="TextBox 5"/>
          <p:cNvSpPr txBox="1"/>
          <p:nvPr/>
        </p:nvSpPr>
        <p:spPr>
          <a:xfrm>
            <a:off x="640080" y="960120"/>
            <a:ext cx="10972800" cy="502920"/>
          </a:xfrm>
          <a:prstGeom prst="rect">
            <a:avLst/>
          </a:prstGeom>
          <a:noFill/>
        </p:spPr>
        <p:txBody>
          <a:bodyPr wrap="square">
            <a:spAutoFit/>
          </a:bodyPr>
          <a:lstStyle/>
          <a:p>
            <a:pPr algn="l"/>
            <a:r>
              <a:rPr sz="2600" b="1" i="0">
                <a:solidFill>
                  <a:srgbClr val="F4F4F8"/>
                </a:solidFill>
                <a:latin typeface="Georgia"/>
              </a:rPr>
              <a:t>Brand is built. The ladder is now purchasable.</a:t>
            </a:r>
          </a:p>
        </p:txBody>
      </p:sp>
      <p:sp>
        <p:nvSpPr>
          <p:cNvPr id="7" name="Rectangle 6"/>
          <p:cNvSpPr/>
          <p:nvPr/>
        </p:nvSpPr>
        <p:spPr>
          <a:xfrm>
            <a:off x="640080" y="1737360"/>
            <a:ext cx="3611880" cy="420624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737360"/>
            <a:ext cx="3611880" cy="9144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965960"/>
            <a:ext cx="3108960" cy="320040"/>
          </a:xfrm>
          <a:prstGeom prst="rect">
            <a:avLst/>
          </a:prstGeom>
          <a:noFill/>
        </p:spPr>
        <p:txBody>
          <a:bodyPr wrap="square">
            <a:spAutoFit/>
          </a:bodyPr>
          <a:lstStyle/>
          <a:p>
            <a:pPr algn="l"/>
            <a:r>
              <a:rPr sz="1200" b="1" i="0">
                <a:solidFill>
                  <a:srgbClr val="D4952A"/>
                </a:solidFill>
                <a:latin typeface="Calibri"/>
              </a:rPr>
              <a:t>TIER 1</a:t>
            </a:r>
          </a:p>
        </p:txBody>
      </p:sp>
      <p:sp>
        <p:nvSpPr>
          <p:cNvPr id="10" name="TextBox 9"/>
          <p:cNvSpPr txBox="1"/>
          <p:nvPr/>
        </p:nvSpPr>
        <p:spPr>
          <a:xfrm>
            <a:off x="914400" y="2331720"/>
            <a:ext cx="3108960" cy="1097280"/>
          </a:xfrm>
          <a:prstGeom prst="rect">
            <a:avLst/>
          </a:prstGeom>
          <a:noFill/>
        </p:spPr>
        <p:txBody>
          <a:bodyPr wrap="square">
            <a:spAutoFit/>
          </a:bodyPr>
          <a:lstStyle/>
          <a:p>
            <a:pPr algn="l"/>
            <a:r>
              <a:rPr sz="2000" b="1" i="0">
                <a:solidFill>
                  <a:srgbClr val="F4F4F8"/>
                </a:solidFill>
                <a:latin typeface="Georgia"/>
              </a:rPr>
              <a:t>Cultural Bias
Rapid Audit</a:t>
            </a:r>
          </a:p>
        </p:txBody>
      </p:sp>
      <p:sp>
        <p:nvSpPr>
          <p:cNvPr id="11" name="TextBox 10"/>
          <p:cNvSpPr txBox="1"/>
          <p:nvPr/>
        </p:nvSpPr>
        <p:spPr>
          <a:xfrm>
            <a:off x="914400" y="3520440"/>
            <a:ext cx="3108960" cy="731520"/>
          </a:xfrm>
          <a:prstGeom prst="rect">
            <a:avLst/>
          </a:prstGeom>
          <a:noFill/>
        </p:spPr>
        <p:txBody>
          <a:bodyPr wrap="square">
            <a:spAutoFit/>
          </a:bodyPr>
          <a:lstStyle/>
          <a:p>
            <a:pPr algn="l"/>
            <a:r>
              <a:rPr sz="1400" b="0" i="0">
                <a:solidFill>
                  <a:srgbClr val="D4952A"/>
                </a:solidFill>
                <a:latin typeface="Calibri"/>
              </a:rPr>
              <a:t>₦300K–₦750K
$200–$500</a:t>
            </a:r>
          </a:p>
        </p:txBody>
      </p:sp>
      <p:sp>
        <p:nvSpPr>
          <p:cNvPr id="12" name="TextBox 11"/>
          <p:cNvSpPr txBox="1"/>
          <p:nvPr/>
        </p:nvSpPr>
        <p:spPr>
          <a:xfrm>
            <a:off x="914400" y="4343400"/>
            <a:ext cx="3108960" cy="1280160"/>
          </a:xfrm>
          <a:prstGeom prst="rect">
            <a:avLst/>
          </a:prstGeom>
          <a:noFill/>
        </p:spPr>
        <p:txBody>
          <a:bodyPr wrap="square">
            <a:spAutoFit/>
          </a:bodyPr>
          <a:lstStyle/>
          <a:p>
            <a:pPr algn="l"/>
            <a:r>
              <a:rPr sz="1300" b="0" i="0">
                <a:solidFill>
                  <a:srgbClr val="9A9AA8"/>
                </a:solidFill>
                <a:latin typeface="Calibri"/>
              </a:rPr>
              <a:t>48 hours. 5-page report.
EdTech, fintech, banks, NGOs, government.</a:t>
            </a:r>
          </a:p>
        </p:txBody>
      </p:sp>
      <p:sp>
        <p:nvSpPr>
          <p:cNvPr id="13" name="Rectangle 12"/>
          <p:cNvSpPr/>
          <p:nvPr/>
        </p:nvSpPr>
        <p:spPr>
          <a:xfrm>
            <a:off x="4434840" y="1737360"/>
            <a:ext cx="3611880" cy="420624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37360"/>
            <a:ext cx="3611880" cy="9144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09160" y="1965960"/>
            <a:ext cx="3108960" cy="320040"/>
          </a:xfrm>
          <a:prstGeom prst="rect">
            <a:avLst/>
          </a:prstGeom>
          <a:noFill/>
        </p:spPr>
        <p:txBody>
          <a:bodyPr wrap="square">
            <a:spAutoFit/>
          </a:bodyPr>
          <a:lstStyle/>
          <a:p>
            <a:pPr algn="l"/>
            <a:r>
              <a:rPr sz="1200" b="1" i="0">
                <a:solidFill>
                  <a:srgbClr val="D4952A"/>
                </a:solidFill>
                <a:latin typeface="Calibri"/>
              </a:rPr>
              <a:t>TIER 2</a:t>
            </a:r>
          </a:p>
        </p:txBody>
      </p:sp>
      <p:sp>
        <p:nvSpPr>
          <p:cNvPr id="16" name="TextBox 15"/>
          <p:cNvSpPr txBox="1"/>
          <p:nvPr/>
        </p:nvSpPr>
        <p:spPr>
          <a:xfrm>
            <a:off x="4709160" y="2331720"/>
            <a:ext cx="3108960" cy="1097280"/>
          </a:xfrm>
          <a:prstGeom prst="rect">
            <a:avLst/>
          </a:prstGeom>
          <a:noFill/>
        </p:spPr>
        <p:txBody>
          <a:bodyPr wrap="square">
            <a:spAutoFit/>
          </a:bodyPr>
          <a:lstStyle/>
          <a:p>
            <a:pPr algn="l"/>
            <a:r>
              <a:rPr sz="2000" b="1" i="0">
                <a:solidFill>
                  <a:srgbClr val="F4F4F8"/>
                </a:solidFill>
                <a:latin typeface="Georgia"/>
              </a:rPr>
              <a:t>Agent Environment
Design</a:t>
            </a:r>
          </a:p>
        </p:txBody>
      </p:sp>
      <p:sp>
        <p:nvSpPr>
          <p:cNvPr id="17" name="TextBox 16"/>
          <p:cNvSpPr txBox="1"/>
          <p:nvPr/>
        </p:nvSpPr>
        <p:spPr>
          <a:xfrm>
            <a:off x="4709160" y="3520440"/>
            <a:ext cx="3108960" cy="731520"/>
          </a:xfrm>
          <a:prstGeom prst="rect">
            <a:avLst/>
          </a:prstGeom>
          <a:noFill/>
        </p:spPr>
        <p:txBody>
          <a:bodyPr wrap="square">
            <a:spAutoFit/>
          </a:bodyPr>
          <a:lstStyle/>
          <a:p>
            <a:pPr algn="l"/>
            <a:r>
              <a:rPr sz="1400" b="0" i="0">
                <a:solidFill>
                  <a:srgbClr val="D4952A"/>
                </a:solidFill>
                <a:latin typeface="Calibri"/>
              </a:rPr>
              <a:t>₦1.8M–₦4.5M
$1,200–$3,000</a:t>
            </a:r>
          </a:p>
        </p:txBody>
      </p:sp>
      <p:sp>
        <p:nvSpPr>
          <p:cNvPr id="18" name="TextBox 17"/>
          <p:cNvSpPr txBox="1"/>
          <p:nvPr/>
        </p:nvSpPr>
        <p:spPr>
          <a:xfrm>
            <a:off x="4709160" y="4343400"/>
            <a:ext cx="3108960" cy="1280160"/>
          </a:xfrm>
          <a:prstGeom prst="rect">
            <a:avLst/>
          </a:prstGeom>
          <a:noFill/>
        </p:spPr>
        <p:txBody>
          <a:bodyPr wrap="square">
            <a:spAutoFit/>
          </a:bodyPr>
          <a:lstStyle/>
          <a:p>
            <a:pPr algn="l"/>
            <a:r>
              <a:rPr sz="1300" b="0" i="0">
                <a:solidFill>
                  <a:srgbClr val="9A9AA8"/>
                </a:solidFill>
                <a:latin typeface="Calibri"/>
              </a:rPr>
              <a:t>2–4 weeks. CLAUDE.md architecture.
Cognitive vs execution tooling.</a:t>
            </a:r>
          </a:p>
        </p:txBody>
      </p:sp>
      <p:sp>
        <p:nvSpPr>
          <p:cNvPr id="19" name="Rectangle 18"/>
          <p:cNvSpPr/>
          <p:nvPr/>
        </p:nvSpPr>
        <p:spPr>
          <a:xfrm>
            <a:off x="8229600" y="1737360"/>
            <a:ext cx="3611880" cy="420624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0" y="1737360"/>
            <a:ext cx="3611880" cy="9144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0" y="1965960"/>
            <a:ext cx="3108960" cy="320040"/>
          </a:xfrm>
          <a:prstGeom prst="rect">
            <a:avLst/>
          </a:prstGeom>
          <a:noFill/>
        </p:spPr>
        <p:txBody>
          <a:bodyPr wrap="square">
            <a:spAutoFit/>
          </a:bodyPr>
          <a:lstStyle/>
          <a:p>
            <a:pPr algn="l"/>
            <a:r>
              <a:rPr sz="1200" b="1" i="0">
                <a:solidFill>
                  <a:srgbClr val="D4952A"/>
                </a:solidFill>
                <a:latin typeface="Calibri"/>
              </a:rPr>
              <a:t>TIER 3</a:t>
            </a:r>
          </a:p>
        </p:txBody>
      </p:sp>
      <p:sp>
        <p:nvSpPr>
          <p:cNvPr id="22" name="TextBox 21"/>
          <p:cNvSpPr txBox="1"/>
          <p:nvPr/>
        </p:nvSpPr>
        <p:spPr>
          <a:xfrm>
            <a:off x="8503920" y="2331720"/>
            <a:ext cx="3108960" cy="1097280"/>
          </a:xfrm>
          <a:prstGeom prst="rect">
            <a:avLst/>
          </a:prstGeom>
          <a:noFill/>
        </p:spPr>
        <p:txBody>
          <a:bodyPr wrap="square">
            <a:spAutoFit/>
          </a:bodyPr>
          <a:lstStyle/>
          <a:p>
            <a:pPr algn="l"/>
            <a:r>
              <a:rPr sz="2000" b="1" i="0">
                <a:solidFill>
                  <a:srgbClr val="F4F4F8"/>
                </a:solidFill>
                <a:latin typeface="Georgia"/>
              </a:rPr>
              <a:t>African AI Direction
Consulting</a:t>
            </a:r>
          </a:p>
        </p:txBody>
      </p:sp>
      <p:sp>
        <p:nvSpPr>
          <p:cNvPr id="23" name="TextBox 22"/>
          <p:cNvSpPr txBox="1"/>
          <p:nvPr/>
        </p:nvSpPr>
        <p:spPr>
          <a:xfrm>
            <a:off x="8503920" y="3520440"/>
            <a:ext cx="3108960" cy="731520"/>
          </a:xfrm>
          <a:prstGeom prst="rect">
            <a:avLst/>
          </a:prstGeom>
          <a:noFill/>
        </p:spPr>
        <p:txBody>
          <a:bodyPr wrap="square">
            <a:spAutoFit/>
          </a:bodyPr>
          <a:lstStyle/>
          <a:p>
            <a:pPr algn="l"/>
            <a:r>
              <a:rPr sz="1400" b="0" i="0">
                <a:solidFill>
                  <a:srgbClr val="D4952A"/>
                </a:solidFill>
                <a:latin typeface="Calibri"/>
              </a:rPr>
              <a:t>₦9M–₦21M
$6,000–$14,000</a:t>
            </a:r>
          </a:p>
        </p:txBody>
      </p:sp>
      <p:sp>
        <p:nvSpPr>
          <p:cNvPr id="24" name="TextBox 23"/>
          <p:cNvSpPr txBox="1"/>
          <p:nvPr/>
        </p:nvSpPr>
        <p:spPr>
          <a:xfrm>
            <a:off x="8503920" y="4343400"/>
            <a:ext cx="3108960" cy="1280160"/>
          </a:xfrm>
          <a:prstGeom prst="rect">
            <a:avLst/>
          </a:prstGeom>
          <a:noFill/>
        </p:spPr>
        <p:txBody>
          <a:bodyPr wrap="square">
            <a:spAutoFit/>
          </a:bodyPr>
          <a:lstStyle/>
          <a:p>
            <a:pPr algn="l"/>
            <a:r>
              <a:rPr sz="1300" b="0" i="0">
                <a:solidFill>
                  <a:srgbClr val="9A9AA8"/>
                </a:solidFill>
                <a:latin typeface="Calibri"/>
              </a:rPr>
              <a:t>Retainer. LFA for the programme.
Objective-function alignment.</a:t>
            </a:r>
          </a:p>
        </p:txBody>
      </p:sp>
      <p:sp>
        <p:nvSpPr>
          <p:cNvPr id="25" name="Rectangle 24"/>
          <p:cNvSpPr/>
          <p:nvPr/>
        </p:nvSpPr>
        <p:spPr>
          <a:xfrm>
            <a:off x="0" y="6656832"/>
            <a:ext cx="12191695" cy="201168"/>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6656832"/>
            <a:ext cx="7315200" cy="201168"/>
          </a:xfrm>
          <a:prstGeom prst="rect">
            <a:avLst/>
          </a:prstGeom>
          <a:noFill/>
        </p:spPr>
        <p:txBody>
          <a:bodyPr wrap="square">
            <a:spAutoFit/>
          </a:bodyPr>
          <a:lstStyle/>
          <a:p>
            <a:pPr algn="l"/>
            <a:r>
              <a:rPr sz="900" b="1" i="0">
                <a:solidFill>
                  <a:srgbClr val="09090A"/>
                </a:solidFill>
                <a:latin typeface="Calibri"/>
              </a:rPr>
              <a:t>LOG_ON  ·  Lagos  ·  Direction infrastructure for African AI</a:t>
            </a:r>
          </a:p>
        </p:txBody>
      </p:sp>
      <p:sp>
        <p:nvSpPr>
          <p:cNvPr id="27" name="TextBox 26"/>
          <p:cNvSpPr txBox="1"/>
          <p:nvPr/>
        </p:nvSpPr>
        <p:spPr>
          <a:xfrm>
            <a:off x="10424160" y="6656832"/>
            <a:ext cx="1371600" cy="201168"/>
          </a:xfrm>
          <a:prstGeom prst="rect">
            <a:avLst/>
          </a:prstGeom>
          <a:noFill/>
        </p:spPr>
        <p:txBody>
          <a:bodyPr wrap="square">
            <a:spAutoFit/>
          </a:bodyPr>
          <a:lstStyle/>
          <a:p>
            <a:pPr algn="r"/>
            <a:r>
              <a:rPr sz="900" b="1" i="0">
                <a:solidFill>
                  <a:srgbClr val="09090A"/>
                </a:solidFill>
                <a:latin typeface="Calibri"/>
              </a:rPr>
              <a:t>07 / 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5486400" cy="274320"/>
          </a:xfrm>
          <a:prstGeom prst="rect">
            <a:avLst/>
          </a:prstGeom>
          <a:noFill/>
        </p:spPr>
        <p:txBody>
          <a:bodyPr wrap="square">
            <a:spAutoFit/>
          </a:bodyPr>
          <a:lstStyle/>
          <a:p>
            <a:pPr algn="l"/>
            <a:r>
              <a:rPr sz="1100" b="1" i="0">
                <a:solidFill>
                  <a:srgbClr val="D4952A"/>
                </a:solidFill>
                <a:latin typeface="Calibri"/>
              </a:rPr>
              <a:t>LOG_ON</a:t>
            </a:r>
          </a:p>
        </p:txBody>
      </p:sp>
      <p:sp>
        <p:nvSpPr>
          <p:cNvPr id="5" name="TextBox 4"/>
          <p:cNvSpPr txBox="1"/>
          <p:nvPr/>
        </p:nvSpPr>
        <p:spPr>
          <a:xfrm>
            <a:off x="5943600" y="201168"/>
            <a:ext cx="5760720" cy="274320"/>
          </a:xfrm>
          <a:prstGeom prst="rect">
            <a:avLst/>
          </a:prstGeom>
          <a:noFill/>
        </p:spPr>
        <p:txBody>
          <a:bodyPr wrap="square">
            <a:spAutoFit/>
          </a:bodyPr>
          <a:lstStyle/>
          <a:p>
            <a:pPr algn="r"/>
            <a:r>
              <a:rPr sz="1100" b="0" i="0">
                <a:solidFill>
                  <a:srgbClr val="5A5A65"/>
                </a:solidFill>
                <a:latin typeface="Calibri"/>
              </a:rPr>
              <a:t>THE STAKES</a:t>
            </a:r>
          </a:p>
        </p:txBody>
      </p:sp>
      <p:sp>
        <p:nvSpPr>
          <p:cNvPr id="6" name="Rectangle 5"/>
          <p:cNvSpPr/>
          <p:nvPr/>
        </p:nvSpPr>
        <p:spPr>
          <a:xfrm>
            <a:off x="640080" y="1920240"/>
            <a:ext cx="2697480" cy="329184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194560"/>
            <a:ext cx="2331720" cy="1188720"/>
          </a:xfrm>
          <a:prstGeom prst="rect">
            <a:avLst/>
          </a:prstGeom>
          <a:noFill/>
        </p:spPr>
        <p:txBody>
          <a:bodyPr wrap="square">
            <a:spAutoFit/>
          </a:bodyPr>
          <a:lstStyle/>
          <a:p>
            <a:pPr algn="l"/>
            <a:r>
              <a:rPr sz="3600" b="1" i="0">
                <a:solidFill>
                  <a:srgbClr val="D4952A"/>
                </a:solidFill>
                <a:latin typeface="Georgia"/>
              </a:rPr>
              <a:t>&lt;1%</a:t>
            </a:r>
          </a:p>
        </p:txBody>
      </p:sp>
      <p:sp>
        <p:nvSpPr>
          <p:cNvPr id="8" name="TextBox 7"/>
          <p:cNvSpPr txBox="1"/>
          <p:nvPr/>
        </p:nvSpPr>
        <p:spPr>
          <a:xfrm>
            <a:off x="822960" y="3566160"/>
            <a:ext cx="2331720" cy="1280160"/>
          </a:xfrm>
          <a:prstGeom prst="rect">
            <a:avLst/>
          </a:prstGeom>
          <a:noFill/>
        </p:spPr>
        <p:txBody>
          <a:bodyPr wrap="square">
            <a:spAutoFit/>
          </a:bodyPr>
          <a:lstStyle/>
          <a:p>
            <a:pPr algn="l"/>
            <a:r>
              <a:rPr sz="1400" b="0" i="0">
                <a:solidFill>
                  <a:srgbClr val="9A9AA8"/>
                </a:solidFill>
                <a:latin typeface="Calibri"/>
              </a:rPr>
              <a:t>Africa’s share of global
data centre capacity</a:t>
            </a:r>
          </a:p>
        </p:txBody>
      </p:sp>
      <p:sp>
        <p:nvSpPr>
          <p:cNvPr id="9" name="Rectangle 8"/>
          <p:cNvSpPr/>
          <p:nvPr/>
        </p:nvSpPr>
        <p:spPr>
          <a:xfrm>
            <a:off x="3520439" y="1920240"/>
            <a:ext cx="2697480" cy="329184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3319" y="2194560"/>
            <a:ext cx="2331720" cy="1188720"/>
          </a:xfrm>
          <a:prstGeom prst="rect">
            <a:avLst/>
          </a:prstGeom>
          <a:noFill/>
        </p:spPr>
        <p:txBody>
          <a:bodyPr wrap="square">
            <a:spAutoFit/>
          </a:bodyPr>
          <a:lstStyle/>
          <a:p>
            <a:pPr algn="l"/>
            <a:r>
              <a:rPr sz="3600" b="1" i="0">
                <a:solidFill>
                  <a:srgbClr val="D4952A"/>
                </a:solidFill>
                <a:latin typeface="Georgia"/>
              </a:rPr>
              <a:t>83%</a:t>
            </a:r>
          </a:p>
        </p:txBody>
      </p:sp>
      <p:sp>
        <p:nvSpPr>
          <p:cNvPr id="11" name="TextBox 10"/>
          <p:cNvSpPr txBox="1"/>
          <p:nvPr/>
        </p:nvSpPr>
        <p:spPr>
          <a:xfrm>
            <a:off x="3703319" y="3566160"/>
            <a:ext cx="2331720" cy="1280160"/>
          </a:xfrm>
          <a:prstGeom prst="rect">
            <a:avLst/>
          </a:prstGeom>
          <a:noFill/>
        </p:spPr>
        <p:txBody>
          <a:bodyPr wrap="square">
            <a:spAutoFit/>
          </a:bodyPr>
          <a:lstStyle/>
          <a:p>
            <a:pPr algn="l"/>
            <a:r>
              <a:rPr sz="1400" b="0" i="0">
                <a:solidFill>
                  <a:srgbClr val="9A9AA8"/>
                </a:solidFill>
                <a:latin typeface="Calibri"/>
              </a:rPr>
              <a:t>AI startup funding in Q1 2025
in four African countries</a:t>
            </a:r>
          </a:p>
        </p:txBody>
      </p:sp>
      <p:sp>
        <p:nvSpPr>
          <p:cNvPr id="12" name="Rectangle 11"/>
          <p:cNvSpPr/>
          <p:nvPr/>
        </p:nvSpPr>
        <p:spPr>
          <a:xfrm>
            <a:off x="6400800" y="1920240"/>
            <a:ext cx="2697480" cy="329184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194560"/>
            <a:ext cx="2331720" cy="1188720"/>
          </a:xfrm>
          <a:prstGeom prst="rect">
            <a:avLst/>
          </a:prstGeom>
          <a:noFill/>
        </p:spPr>
        <p:txBody>
          <a:bodyPr wrap="square">
            <a:spAutoFit/>
          </a:bodyPr>
          <a:lstStyle/>
          <a:p>
            <a:pPr algn="l"/>
            <a:r>
              <a:rPr sz="3600" b="1" i="0">
                <a:solidFill>
                  <a:srgbClr val="D4952A"/>
                </a:solidFill>
                <a:latin typeface="Georgia"/>
              </a:rPr>
              <a:t>2,000+</a:t>
            </a:r>
          </a:p>
        </p:txBody>
      </p:sp>
      <p:sp>
        <p:nvSpPr>
          <p:cNvPr id="14" name="TextBox 13"/>
          <p:cNvSpPr txBox="1"/>
          <p:nvPr/>
        </p:nvSpPr>
        <p:spPr>
          <a:xfrm>
            <a:off x="6583680" y="3566160"/>
            <a:ext cx="2331720" cy="1280160"/>
          </a:xfrm>
          <a:prstGeom prst="rect">
            <a:avLst/>
          </a:prstGeom>
          <a:noFill/>
        </p:spPr>
        <p:txBody>
          <a:bodyPr wrap="square">
            <a:spAutoFit/>
          </a:bodyPr>
          <a:lstStyle/>
          <a:p>
            <a:pPr algn="l"/>
            <a:r>
              <a:rPr sz="1400" b="0" i="0">
                <a:solidFill>
                  <a:srgbClr val="9A9AA8"/>
                </a:solidFill>
                <a:latin typeface="Calibri"/>
              </a:rPr>
              <a:t>African languages — most
invisible in frontier LLMs</a:t>
            </a:r>
          </a:p>
        </p:txBody>
      </p:sp>
      <p:sp>
        <p:nvSpPr>
          <p:cNvPr id="15" name="Rectangle 14"/>
          <p:cNvSpPr/>
          <p:nvPr/>
        </p:nvSpPr>
        <p:spPr>
          <a:xfrm>
            <a:off x="9281159" y="1920240"/>
            <a:ext cx="2697480" cy="329184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64039" y="2194560"/>
            <a:ext cx="2331720" cy="1188720"/>
          </a:xfrm>
          <a:prstGeom prst="rect">
            <a:avLst/>
          </a:prstGeom>
          <a:noFill/>
        </p:spPr>
        <p:txBody>
          <a:bodyPr wrap="square">
            <a:spAutoFit/>
          </a:bodyPr>
          <a:lstStyle/>
          <a:p>
            <a:pPr algn="l"/>
            <a:r>
              <a:rPr sz="3600" b="1" i="0">
                <a:solidFill>
                  <a:srgbClr val="D4952A"/>
                </a:solidFill>
                <a:latin typeface="Georgia"/>
              </a:rPr>
              <a:t>$10B</a:t>
            </a:r>
          </a:p>
        </p:txBody>
      </p:sp>
      <p:sp>
        <p:nvSpPr>
          <p:cNvPr id="17" name="TextBox 16"/>
          <p:cNvSpPr txBox="1"/>
          <p:nvPr/>
        </p:nvSpPr>
        <p:spPr>
          <a:xfrm>
            <a:off x="9464039" y="3566160"/>
            <a:ext cx="2331720" cy="1280160"/>
          </a:xfrm>
          <a:prstGeom prst="rect">
            <a:avLst/>
          </a:prstGeom>
          <a:noFill/>
        </p:spPr>
        <p:txBody>
          <a:bodyPr wrap="square">
            <a:spAutoFit/>
          </a:bodyPr>
          <a:lstStyle/>
          <a:p>
            <a:pPr algn="l"/>
            <a:r>
              <a:rPr sz="1400" b="0" i="0">
                <a:solidFill>
                  <a:srgbClr val="9A9AA8"/>
                </a:solidFill>
                <a:latin typeface="Calibri"/>
              </a:rPr>
              <a:t>AfDB / UNDP AI initiative
target by 2035</a:t>
            </a:r>
          </a:p>
        </p:txBody>
      </p:sp>
      <p:sp>
        <p:nvSpPr>
          <p:cNvPr id="18" name="Rectangle 17"/>
          <p:cNvSpPr/>
          <p:nvPr/>
        </p:nvSpPr>
        <p:spPr>
          <a:xfrm>
            <a:off x="0" y="6656832"/>
            <a:ext cx="12191695" cy="201168"/>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656832"/>
            <a:ext cx="7315200" cy="201168"/>
          </a:xfrm>
          <a:prstGeom prst="rect">
            <a:avLst/>
          </a:prstGeom>
          <a:noFill/>
        </p:spPr>
        <p:txBody>
          <a:bodyPr wrap="square">
            <a:spAutoFit/>
          </a:bodyPr>
          <a:lstStyle/>
          <a:p>
            <a:pPr algn="l"/>
            <a:r>
              <a:rPr sz="900" b="1" i="0">
                <a:solidFill>
                  <a:srgbClr val="09090A"/>
                </a:solidFill>
                <a:latin typeface="Calibri"/>
              </a:rPr>
              <a:t>LOG_ON  ·  Lagos  ·  Direction infrastructure for African AI</a:t>
            </a:r>
          </a:p>
        </p:txBody>
      </p:sp>
      <p:sp>
        <p:nvSpPr>
          <p:cNvPr id="20" name="TextBox 19"/>
          <p:cNvSpPr txBox="1"/>
          <p:nvPr/>
        </p:nvSpPr>
        <p:spPr>
          <a:xfrm>
            <a:off x="10424160" y="6656832"/>
            <a:ext cx="1371600" cy="201168"/>
          </a:xfrm>
          <a:prstGeom prst="rect">
            <a:avLst/>
          </a:prstGeom>
          <a:noFill/>
        </p:spPr>
        <p:txBody>
          <a:bodyPr wrap="square">
            <a:spAutoFit/>
          </a:bodyPr>
          <a:lstStyle/>
          <a:p>
            <a:pPr algn="r"/>
            <a:r>
              <a:rPr sz="900" b="1" i="0">
                <a:solidFill>
                  <a:srgbClr val="09090A"/>
                </a:solidFill>
                <a:latin typeface="Calibri"/>
              </a:rPr>
              <a:t>08 /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5486400" cy="274320"/>
          </a:xfrm>
          <a:prstGeom prst="rect">
            <a:avLst/>
          </a:prstGeom>
          <a:noFill/>
        </p:spPr>
        <p:txBody>
          <a:bodyPr wrap="square">
            <a:spAutoFit/>
          </a:bodyPr>
          <a:lstStyle/>
          <a:p>
            <a:pPr algn="l"/>
            <a:r>
              <a:rPr sz="1100" b="1" i="0">
                <a:solidFill>
                  <a:srgbClr val="D4952A"/>
                </a:solidFill>
                <a:latin typeface="Calibri"/>
              </a:rPr>
              <a:t>LOG_ON</a:t>
            </a:r>
          </a:p>
        </p:txBody>
      </p:sp>
      <p:sp>
        <p:nvSpPr>
          <p:cNvPr id="5" name="TextBox 4"/>
          <p:cNvSpPr txBox="1"/>
          <p:nvPr/>
        </p:nvSpPr>
        <p:spPr>
          <a:xfrm>
            <a:off x="5943600" y="201168"/>
            <a:ext cx="5760720" cy="274320"/>
          </a:xfrm>
          <a:prstGeom prst="rect">
            <a:avLst/>
          </a:prstGeom>
          <a:noFill/>
        </p:spPr>
        <p:txBody>
          <a:bodyPr wrap="square">
            <a:spAutoFit/>
          </a:bodyPr>
          <a:lstStyle/>
          <a:p>
            <a:pPr algn="r"/>
            <a:r>
              <a:rPr sz="1100" b="0" i="0">
                <a:solidFill>
                  <a:srgbClr val="5A5A65"/>
                </a:solidFill>
                <a:latin typeface="Calibri"/>
              </a:rPr>
              <a:t>ESSAY NO. 08  ·  ~4,200 WORDS</a:t>
            </a:r>
          </a:p>
        </p:txBody>
      </p:sp>
      <p:sp>
        <p:nvSpPr>
          <p:cNvPr id="6" name="TextBox 5"/>
          <p:cNvSpPr txBox="1"/>
          <p:nvPr/>
        </p:nvSpPr>
        <p:spPr>
          <a:xfrm>
            <a:off x="640080" y="960120"/>
            <a:ext cx="10972800" cy="640080"/>
          </a:xfrm>
          <a:prstGeom prst="rect">
            <a:avLst/>
          </a:prstGeom>
          <a:noFill/>
        </p:spPr>
        <p:txBody>
          <a:bodyPr wrap="square">
            <a:spAutoFit/>
          </a:bodyPr>
          <a:lstStyle/>
          <a:p>
            <a:pPr algn="l"/>
            <a:r>
              <a:rPr sz="2800" b="1" i="0">
                <a:solidFill>
                  <a:srgbClr val="F4F4F8"/>
                </a:solidFill>
                <a:latin typeface="Georgia"/>
              </a:rPr>
              <a:t>Whose Intelligence Is This?</a:t>
            </a:r>
          </a:p>
        </p:txBody>
      </p:sp>
      <p:sp>
        <p:nvSpPr>
          <p:cNvPr id="7" name="Rectangle 6"/>
          <p:cNvSpPr/>
          <p:nvPr/>
        </p:nvSpPr>
        <p:spPr>
          <a:xfrm>
            <a:off x="502920" y="1783080"/>
            <a:ext cx="2743200" cy="201168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83080"/>
            <a:ext cx="73152" cy="201168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947672"/>
            <a:ext cx="2377440" cy="365760"/>
          </a:xfrm>
          <a:prstGeom prst="rect">
            <a:avLst/>
          </a:prstGeom>
          <a:noFill/>
        </p:spPr>
        <p:txBody>
          <a:bodyPr wrap="square">
            <a:spAutoFit/>
          </a:bodyPr>
          <a:lstStyle/>
          <a:p>
            <a:pPr algn="l"/>
            <a:r>
              <a:rPr sz="1400" b="1" i="0">
                <a:solidFill>
                  <a:srgbClr val="D4952A"/>
                </a:solidFill>
                <a:latin typeface="Calibri"/>
              </a:rPr>
              <a:t>01 Architecture</a:t>
            </a:r>
          </a:p>
        </p:txBody>
      </p:sp>
      <p:sp>
        <p:nvSpPr>
          <p:cNvPr id="10" name="TextBox 9"/>
          <p:cNvSpPr txBox="1"/>
          <p:nvPr/>
        </p:nvSpPr>
        <p:spPr>
          <a:xfrm>
            <a:off x="758952" y="2313432"/>
            <a:ext cx="2331720" cy="1325880"/>
          </a:xfrm>
          <a:prstGeom prst="rect">
            <a:avLst/>
          </a:prstGeom>
          <a:noFill/>
        </p:spPr>
        <p:txBody>
          <a:bodyPr wrap="square">
            <a:spAutoFit/>
          </a:bodyPr>
          <a:lstStyle/>
          <a:p>
            <a:pPr algn="l"/>
            <a:r>
              <a:rPr sz="1300" b="0" i="0">
                <a:solidFill>
                  <a:srgbClr val="9A9AA8"/>
                </a:solidFill>
                <a:latin typeface="Calibri"/>
              </a:rPr>
              <a:t>Knowledge is not stored. It is generated. Hallucination is a property.</a:t>
            </a:r>
          </a:p>
        </p:txBody>
      </p:sp>
      <p:sp>
        <p:nvSpPr>
          <p:cNvPr id="11" name="Rectangle 10"/>
          <p:cNvSpPr/>
          <p:nvPr/>
        </p:nvSpPr>
        <p:spPr>
          <a:xfrm>
            <a:off x="3383280" y="1783080"/>
            <a:ext cx="2743200" cy="201168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83280" y="1783080"/>
            <a:ext cx="73152" cy="201168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9312" y="1947672"/>
            <a:ext cx="2377440" cy="365760"/>
          </a:xfrm>
          <a:prstGeom prst="rect">
            <a:avLst/>
          </a:prstGeom>
          <a:noFill/>
        </p:spPr>
        <p:txBody>
          <a:bodyPr wrap="square">
            <a:spAutoFit/>
          </a:bodyPr>
          <a:lstStyle/>
          <a:p>
            <a:pPr algn="l"/>
            <a:r>
              <a:rPr sz="1400" b="1" i="0">
                <a:solidFill>
                  <a:srgbClr val="D4952A"/>
                </a:solidFill>
                <a:latin typeface="Calibri"/>
              </a:rPr>
              <a:t>02 Authorship</a:t>
            </a:r>
          </a:p>
        </p:txBody>
      </p:sp>
      <p:sp>
        <p:nvSpPr>
          <p:cNvPr id="14" name="TextBox 13"/>
          <p:cNvSpPr txBox="1"/>
          <p:nvPr/>
        </p:nvSpPr>
        <p:spPr>
          <a:xfrm>
            <a:off x="3639312" y="2313432"/>
            <a:ext cx="2331720" cy="1325880"/>
          </a:xfrm>
          <a:prstGeom prst="rect">
            <a:avLst/>
          </a:prstGeom>
          <a:noFill/>
        </p:spPr>
        <p:txBody>
          <a:bodyPr wrap="square">
            <a:spAutoFit/>
          </a:bodyPr>
          <a:lstStyle/>
          <a:p>
            <a:pPr algn="l"/>
            <a:r>
              <a:rPr sz="1300" b="0" i="0">
                <a:solidFill>
                  <a:srgbClr val="9A9AA8"/>
                </a:solidFill>
                <a:latin typeface="Calibri"/>
              </a:rPr>
              <a:t>Corpus, RLHF, constitution, operator layer. None of the authors are Africa.</a:t>
            </a:r>
          </a:p>
        </p:txBody>
      </p:sp>
      <p:sp>
        <p:nvSpPr>
          <p:cNvPr id="15" name="Rectangle 14"/>
          <p:cNvSpPr/>
          <p:nvPr/>
        </p:nvSpPr>
        <p:spPr>
          <a:xfrm>
            <a:off x="6263640" y="1783080"/>
            <a:ext cx="2743200" cy="201168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63640" y="1783080"/>
            <a:ext cx="73152" cy="201168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9672" y="1947672"/>
            <a:ext cx="2377440" cy="365760"/>
          </a:xfrm>
          <a:prstGeom prst="rect">
            <a:avLst/>
          </a:prstGeom>
          <a:noFill/>
        </p:spPr>
        <p:txBody>
          <a:bodyPr wrap="square">
            <a:spAutoFit/>
          </a:bodyPr>
          <a:lstStyle/>
          <a:p>
            <a:pPr algn="l"/>
            <a:r>
              <a:rPr sz="1400" b="1" i="0">
                <a:solidFill>
                  <a:srgbClr val="D4952A"/>
                </a:solidFill>
                <a:latin typeface="Calibri"/>
              </a:rPr>
              <a:t>03 Fragility</a:t>
            </a:r>
          </a:p>
        </p:txBody>
      </p:sp>
      <p:sp>
        <p:nvSpPr>
          <p:cNvPr id="18" name="TextBox 17"/>
          <p:cNvSpPr txBox="1"/>
          <p:nvPr/>
        </p:nvSpPr>
        <p:spPr>
          <a:xfrm>
            <a:off x="6519672" y="2313432"/>
            <a:ext cx="2331720" cy="1325880"/>
          </a:xfrm>
          <a:prstGeom prst="rect">
            <a:avLst/>
          </a:prstGeom>
          <a:noFill/>
        </p:spPr>
        <p:txBody>
          <a:bodyPr wrap="square">
            <a:spAutoFit/>
          </a:bodyPr>
          <a:lstStyle/>
          <a:p>
            <a:pPr algn="l"/>
            <a:r>
              <a:rPr sz="1300" b="0" i="0">
                <a:solidFill>
                  <a:srgbClr val="9A9AA8"/>
                </a:solidFill>
                <a:latin typeface="Calibri"/>
              </a:rPr>
              <a:t>Brittle at the edges. The edge is 1.4 billion people.</a:t>
            </a:r>
          </a:p>
        </p:txBody>
      </p:sp>
      <p:sp>
        <p:nvSpPr>
          <p:cNvPr id="19" name="Rectangle 18"/>
          <p:cNvSpPr/>
          <p:nvPr/>
        </p:nvSpPr>
        <p:spPr>
          <a:xfrm>
            <a:off x="9144000" y="1783080"/>
            <a:ext cx="2743200" cy="201168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44000" y="1783080"/>
            <a:ext cx="73152" cy="201168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00032" y="1947672"/>
            <a:ext cx="2377440" cy="365760"/>
          </a:xfrm>
          <a:prstGeom prst="rect">
            <a:avLst/>
          </a:prstGeom>
          <a:noFill/>
        </p:spPr>
        <p:txBody>
          <a:bodyPr wrap="square">
            <a:spAutoFit/>
          </a:bodyPr>
          <a:lstStyle/>
          <a:p>
            <a:pPr algn="l"/>
            <a:r>
              <a:rPr sz="1400" b="1" i="0">
                <a:solidFill>
                  <a:srgbClr val="D4952A"/>
                </a:solidFill>
                <a:latin typeface="Calibri"/>
              </a:rPr>
              <a:t>04 Objective</a:t>
            </a:r>
          </a:p>
        </p:txBody>
      </p:sp>
      <p:sp>
        <p:nvSpPr>
          <p:cNvPr id="22" name="TextBox 21"/>
          <p:cNvSpPr txBox="1"/>
          <p:nvPr/>
        </p:nvSpPr>
        <p:spPr>
          <a:xfrm>
            <a:off x="9400032" y="2313432"/>
            <a:ext cx="2331720" cy="1325880"/>
          </a:xfrm>
          <a:prstGeom prst="rect">
            <a:avLst/>
          </a:prstGeom>
          <a:noFill/>
        </p:spPr>
        <p:txBody>
          <a:bodyPr wrap="square">
            <a:spAutoFit/>
          </a:bodyPr>
          <a:lstStyle/>
          <a:p>
            <a:pPr algn="l"/>
            <a:r>
              <a:rPr sz="1300" b="0" i="0">
                <a:solidFill>
                  <a:srgbClr val="9A9AA8"/>
                </a:solidFill>
                <a:latin typeface="Calibri"/>
              </a:rPr>
              <a:t>The reward model is a statement of values, written in mathematics.</a:t>
            </a:r>
          </a:p>
        </p:txBody>
      </p:sp>
      <p:sp>
        <p:nvSpPr>
          <p:cNvPr id="23" name="Rectangle 22"/>
          <p:cNvSpPr/>
          <p:nvPr/>
        </p:nvSpPr>
        <p:spPr>
          <a:xfrm>
            <a:off x="502920" y="3977639"/>
            <a:ext cx="2743200" cy="201168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3977639"/>
            <a:ext cx="73152" cy="201168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8952" y="4142231"/>
            <a:ext cx="2377440" cy="365760"/>
          </a:xfrm>
          <a:prstGeom prst="rect">
            <a:avLst/>
          </a:prstGeom>
          <a:noFill/>
        </p:spPr>
        <p:txBody>
          <a:bodyPr wrap="square">
            <a:spAutoFit/>
          </a:bodyPr>
          <a:lstStyle/>
          <a:p>
            <a:pPr algn="l"/>
            <a:r>
              <a:rPr sz="1400" b="1" i="0">
                <a:solidFill>
                  <a:srgbClr val="D4952A"/>
                </a:solidFill>
                <a:latin typeface="Calibri"/>
              </a:rPr>
              <a:t>05 African AI</a:t>
            </a:r>
          </a:p>
        </p:txBody>
      </p:sp>
      <p:sp>
        <p:nvSpPr>
          <p:cNvPr id="26" name="TextBox 25"/>
          <p:cNvSpPr txBox="1"/>
          <p:nvPr/>
        </p:nvSpPr>
        <p:spPr>
          <a:xfrm>
            <a:off x="758952" y="4507991"/>
            <a:ext cx="2331720" cy="1325880"/>
          </a:xfrm>
          <a:prstGeom prst="rect">
            <a:avLst/>
          </a:prstGeom>
          <a:noFill/>
        </p:spPr>
        <p:txBody>
          <a:bodyPr wrap="square">
            <a:spAutoFit/>
          </a:bodyPr>
          <a:lstStyle/>
          <a:p>
            <a:pPr algn="l"/>
            <a:r>
              <a:rPr sz="1300" b="0" i="0">
                <a:solidFill>
                  <a:srgbClr val="9A9AA8"/>
                </a:solidFill>
                <a:latin typeface="Calibri"/>
              </a:rPr>
              <a:t>Not localisation. Computational primitives of African reasoning.</a:t>
            </a:r>
          </a:p>
        </p:txBody>
      </p:sp>
      <p:sp>
        <p:nvSpPr>
          <p:cNvPr id="27" name="Rectangle 26"/>
          <p:cNvSpPr/>
          <p:nvPr/>
        </p:nvSpPr>
        <p:spPr>
          <a:xfrm>
            <a:off x="3383280" y="3977639"/>
            <a:ext cx="2743200" cy="201168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383280" y="3977639"/>
            <a:ext cx="73152" cy="201168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39312" y="4142231"/>
            <a:ext cx="2377440" cy="365760"/>
          </a:xfrm>
          <a:prstGeom prst="rect">
            <a:avLst/>
          </a:prstGeom>
          <a:noFill/>
        </p:spPr>
        <p:txBody>
          <a:bodyPr wrap="square">
            <a:spAutoFit/>
          </a:bodyPr>
          <a:lstStyle/>
          <a:p>
            <a:pPr algn="l"/>
            <a:r>
              <a:rPr sz="1400" b="1" i="0">
                <a:solidFill>
                  <a:srgbClr val="D4952A"/>
                </a:solidFill>
                <a:latin typeface="Calibri"/>
              </a:rPr>
              <a:t>06 Interface</a:t>
            </a:r>
          </a:p>
        </p:txBody>
      </p:sp>
      <p:sp>
        <p:nvSpPr>
          <p:cNvPr id="30" name="TextBox 29"/>
          <p:cNvSpPr txBox="1"/>
          <p:nvPr/>
        </p:nvSpPr>
        <p:spPr>
          <a:xfrm>
            <a:off x="3639312" y="4507991"/>
            <a:ext cx="2331720" cy="1325880"/>
          </a:xfrm>
          <a:prstGeom prst="rect">
            <a:avLst/>
          </a:prstGeom>
          <a:noFill/>
        </p:spPr>
        <p:txBody>
          <a:bodyPr wrap="square">
            <a:spAutoFit/>
          </a:bodyPr>
          <a:lstStyle/>
          <a:p>
            <a:pPr algn="l"/>
            <a:r>
              <a:rPr sz="1300" b="0" i="0">
                <a:solidFill>
                  <a:srgbClr val="9A9AA8"/>
                </a:solidFill>
                <a:latin typeface="Calibri"/>
              </a:rPr>
              <a:t>Sophisticated misrepresentation is more dangerous than visible incompetence.</a:t>
            </a:r>
          </a:p>
        </p:txBody>
      </p:sp>
      <p:sp>
        <p:nvSpPr>
          <p:cNvPr id="31" name="Rectangle 30"/>
          <p:cNvSpPr/>
          <p:nvPr/>
        </p:nvSpPr>
        <p:spPr>
          <a:xfrm>
            <a:off x="6263640" y="3977639"/>
            <a:ext cx="2743200" cy="201168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63640" y="3977639"/>
            <a:ext cx="73152" cy="201168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19672" y="4142231"/>
            <a:ext cx="2377440" cy="365760"/>
          </a:xfrm>
          <a:prstGeom prst="rect">
            <a:avLst/>
          </a:prstGeom>
          <a:noFill/>
        </p:spPr>
        <p:txBody>
          <a:bodyPr wrap="square">
            <a:spAutoFit/>
          </a:bodyPr>
          <a:lstStyle/>
          <a:p>
            <a:pPr algn="l"/>
            <a:r>
              <a:rPr sz="1400" b="1" i="0">
                <a:solidFill>
                  <a:srgbClr val="D4952A"/>
                </a:solidFill>
                <a:latin typeface="Calibri"/>
              </a:rPr>
              <a:t>07 Error</a:t>
            </a:r>
          </a:p>
        </p:txBody>
      </p:sp>
      <p:sp>
        <p:nvSpPr>
          <p:cNvPr id="34" name="TextBox 33"/>
          <p:cNvSpPr txBox="1"/>
          <p:nvPr/>
        </p:nvSpPr>
        <p:spPr>
          <a:xfrm>
            <a:off x="6519672" y="4507991"/>
            <a:ext cx="2331720" cy="1325880"/>
          </a:xfrm>
          <a:prstGeom prst="rect">
            <a:avLst/>
          </a:prstGeom>
          <a:noFill/>
        </p:spPr>
        <p:txBody>
          <a:bodyPr wrap="square">
            <a:spAutoFit/>
          </a:bodyPr>
          <a:lstStyle/>
          <a:p>
            <a:pPr algn="l"/>
            <a:r>
              <a:rPr sz="1300" b="0" i="0">
                <a:solidFill>
                  <a:srgbClr val="9A9AA8"/>
                </a:solidFill>
                <a:latin typeface="Calibri"/>
              </a:rPr>
              <a:t>Sycophancy is the design error that most directly harms African users.</a:t>
            </a:r>
          </a:p>
        </p:txBody>
      </p:sp>
      <p:sp>
        <p:nvSpPr>
          <p:cNvPr id="35" name="Rectangle 34"/>
          <p:cNvSpPr/>
          <p:nvPr/>
        </p:nvSpPr>
        <p:spPr>
          <a:xfrm>
            <a:off x="9144000" y="3977639"/>
            <a:ext cx="2743200" cy="201168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144000" y="3977639"/>
            <a:ext cx="73152" cy="201168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400032" y="4142231"/>
            <a:ext cx="2377440" cy="365760"/>
          </a:xfrm>
          <a:prstGeom prst="rect">
            <a:avLst/>
          </a:prstGeom>
          <a:noFill/>
        </p:spPr>
        <p:txBody>
          <a:bodyPr wrap="square">
            <a:spAutoFit/>
          </a:bodyPr>
          <a:lstStyle/>
          <a:p>
            <a:pPr algn="l"/>
            <a:r>
              <a:rPr sz="1400" b="1" i="0">
                <a:solidFill>
                  <a:srgbClr val="D4952A"/>
                </a:solidFill>
                <a:latin typeface="Calibri"/>
              </a:rPr>
              <a:t>08 Manifesto</a:t>
            </a:r>
          </a:p>
        </p:txBody>
      </p:sp>
      <p:sp>
        <p:nvSpPr>
          <p:cNvPr id="38" name="TextBox 37"/>
          <p:cNvSpPr txBox="1"/>
          <p:nvPr/>
        </p:nvSpPr>
        <p:spPr>
          <a:xfrm>
            <a:off x="9400032" y="4507991"/>
            <a:ext cx="2331720" cy="1325880"/>
          </a:xfrm>
          <a:prstGeom prst="rect">
            <a:avLst/>
          </a:prstGeom>
          <a:noFill/>
        </p:spPr>
        <p:txBody>
          <a:bodyPr wrap="square">
            <a:spAutoFit/>
          </a:bodyPr>
          <a:lstStyle/>
          <a:p>
            <a:pPr algn="l"/>
            <a:r>
              <a:rPr sz="1300" b="0" i="0">
                <a:solidFill>
                  <a:srgbClr val="9A9AA8"/>
                </a:solidFill>
                <a:latin typeface="Calibri"/>
              </a:rPr>
              <a:t>Document. Audit. Benchmark. Compute. Epistemic sovereignty.</a:t>
            </a:r>
          </a:p>
        </p:txBody>
      </p:sp>
      <p:sp>
        <p:nvSpPr>
          <p:cNvPr id="39" name="Rectangle 38"/>
          <p:cNvSpPr/>
          <p:nvPr/>
        </p:nvSpPr>
        <p:spPr>
          <a:xfrm>
            <a:off x="0" y="6656832"/>
            <a:ext cx="12191695" cy="201168"/>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6656832"/>
            <a:ext cx="7315200" cy="201168"/>
          </a:xfrm>
          <a:prstGeom prst="rect">
            <a:avLst/>
          </a:prstGeom>
          <a:noFill/>
        </p:spPr>
        <p:txBody>
          <a:bodyPr wrap="square">
            <a:spAutoFit/>
          </a:bodyPr>
          <a:lstStyle/>
          <a:p>
            <a:pPr algn="l"/>
            <a:r>
              <a:rPr sz="900" b="1" i="0">
                <a:solidFill>
                  <a:srgbClr val="09090A"/>
                </a:solidFill>
                <a:latin typeface="Calibri"/>
              </a:rPr>
              <a:t>LOG_ON  ·  Lagos  ·  Direction infrastructure for African AI</a:t>
            </a:r>
          </a:p>
        </p:txBody>
      </p:sp>
      <p:sp>
        <p:nvSpPr>
          <p:cNvPr id="41" name="TextBox 40"/>
          <p:cNvSpPr txBox="1"/>
          <p:nvPr/>
        </p:nvSpPr>
        <p:spPr>
          <a:xfrm>
            <a:off x="10424160" y="6656832"/>
            <a:ext cx="1371600" cy="201168"/>
          </a:xfrm>
          <a:prstGeom prst="rect">
            <a:avLst/>
          </a:prstGeom>
          <a:noFill/>
        </p:spPr>
        <p:txBody>
          <a:bodyPr wrap="square">
            <a:spAutoFit/>
          </a:bodyPr>
          <a:lstStyle/>
          <a:p>
            <a:pPr algn="r"/>
            <a:r>
              <a:rPr sz="900" b="1" i="0">
                <a:solidFill>
                  <a:srgbClr val="09090A"/>
                </a:solidFill>
                <a:latin typeface="Calibri"/>
              </a:rPr>
              <a:t>09 / 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5486400" cy="274320"/>
          </a:xfrm>
          <a:prstGeom prst="rect">
            <a:avLst/>
          </a:prstGeom>
          <a:noFill/>
        </p:spPr>
        <p:txBody>
          <a:bodyPr wrap="square">
            <a:spAutoFit/>
          </a:bodyPr>
          <a:lstStyle/>
          <a:p>
            <a:pPr algn="l"/>
            <a:r>
              <a:rPr sz="1100" b="1" i="0">
                <a:solidFill>
                  <a:srgbClr val="D4952A"/>
                </a:solidFill>
                <a:latin typeface="Calibri"/>
              </a:rPr>
              <a:t>LOG_ON</a:t>
            </a:r>
          </a:p>
        </p:txBody>
      </p:sp>
      <p:sp>
        <p:nvSpPr>
          <p:cNvPr id="5" name="TextBox 4"/>
          <p:cNvSpPr txBox="1"/>
          <p:nvPr/>
        </p:nvSpPr>
        <p:spPr>
          <a:xfrm>
            <a:off x="5943600" y="201168"/>
            <a:ext cx="5760720" cy="274320"/>
          </a:xfrm>
          <a:prstGeom prst="rect">
            <a:avLst/>
          </a:prstGeom>
          <a:noFill/>
        </p:spPr>
        <p:txBody>
          <a:bodyPr wrap="square">
            <a:spAutoFit/>
          </a:bodyPr>
          <a:lstStyle/>
          <a:p>
            <a:pPr algn="r"/>
            <a:r>
              <a:rPr sz="1100" b="0" i="0">
                <a:solidFill>
                  <a:srgbClr val="5A5A65"/>
                </a:solidFill>
                <a:latin typeface="Calibri"/>
              </a:rPr>
              <a:t>FIVE ACTIONS THAT CANNOT WAIT</a:t>
            </a:r>
          </a:p>
        </p:txBody>
      </p:sp>
      <p:sp>
        <p:nvSpPr>
          <p:cNvPr id="6" name="Rectangle 5"/>
          <p:cNvSpPr/>
          <p:nvPr/>
        </p:nvSpPr>
        <p:spPr>
          <a:xfrm>
            <a:off x="640080" y="1051560"/>
            <a:ext cx="10881360" cy="91440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051560"/>
            <a:ext cx="91440" cy="91440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161288"/>
            <a:ext cx="10241280" cy="292608"/>
          </a:xfrm>
          <a:prstGeom prst="rect">
            <a:avLst/>
          </a:prstGeom>
          <a:noFill/>
        </p:spPr>
        <p:txBody>
          <a:bodyPr wrap="square">
            <a:spAutoFit/>
          </a:bodyPr>
          <a:lstStyle/>
          <a:p>
            <a:pPr algn="l"/>
            <a:r>
              <a:rPr sz="1600" b="1" i="0">
                <a:solidFill>
                  <a:srgbClr val="D4952A"/>
                </a:solidFill>
                <a:latin typeface="Calibri"/>
              </a:rPr>
              <a:t>I  Document before you model</a:t>
            </a:r>
          </a:p>
        </p:txBody>
      </p:sp>
      <p:sp>
        <p:nvSpPr>
          <p:cNvPr id="9" name="TextBox 8"/>
          <p:cNvSpPr txBox="1"/>
          <p:nvPr/>
        </p:nvSpPr>
        <p:spPr>
          <a:xfrm>
            <a:off x="960120" y="1472184"/>
            <a:ext cx="10241280" cy="411480"/>
          </a:xfrm>
          <a:prstGeom prst="rect">
            <a:avLst/>
          </a:prstGeom>
          <a:noFill/>
        </p:spPr>
        <p:txBody>
          <a:bodyPr wrap="square">
            <a:spAutoFit/>
          </a:bodyPr>
          <a:lstStyle/>
          <a:p>
            <a:pPr algn="l"/>
            <a:r>
              <a:rPr sz="1400" b="0" i="0">
                <a:solidFill>
                  <a:srgbClr val="9A9AA8"/>
                </a:solidFill>
                <a:latin typeface="Calibri"/>
              </a:rPr>
              <a:t>Formalise proverbs, oral genres, deliberation protocols as machine-readable knowledge. The proverb is a causal model.</a:t>
            </a:r>
          </a:p>
        </p:txBody>
      </p:sp>
      <p:sp>
        <p:nvSpPr>
          <p:cNvPr id="10" name="Rectangle 9"/>
          <p:cNvSpPr/>
          <p:nvPr/>
        </p:nvSpPr>
        <p:spPr>
          <a:xfrm>
            <a:off x="640080" y="2057400"/>
            <a:ext cx="10881360" cy="91440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057400"/>
            <a:ext cx="91440" cy="91440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167128"/>
            <a:ext cx="10241280" cy="292608"/>
          </a:xfrm>
          <a:prstGeom prst="rect">
            <a:avLst/>
          </a:prstGeom>
          <a:noFill/>
        </p:spPr>
        <p:txBody>
          <a:bodyPr wrap="square">
            <a:spAutoFit/>
          </a:bodyPr>
          <a:lstStyle/>
          <a:p>
            <a:pPr algn="l"/>
            <a:r>
              <a:rPr sz="1600" b="1" i="0">
                <a:solidFill>
                  <a:srgbClr val="D4952A"/>
                </a:solidFill>
                <a:latin typeface="Calibri"/>
              </a:rPr>
              <a:t>II  Audit before you deploy</a:t>
            </a:r>
          </a:p>
        </p:txBody>
      </p:sp>
      <p:sp>
        <p:nvSpPr>
          <p:cNvPr id="13" name="TextBox 12"/>
          <p:cNvSpPr txBox="1"/>
          <p:nvPr/>
        </p:nvSpPr>
        <p:spPr>
          <a:xfrm>
            <a:off x="960120" y="2478024"/>
            <a:ext cx="10241280" cy="411480"/>
          </a:xfrm>
          <a:prstGeom prst="rect">
            <a:avLst/>
          </a:prstGeom>
          <a:noFill/>
        </p:spPr>
        <p:txBody>
          <a:bodyPr wrap="square">
            <a:spAutoFit/>
          </a:bodyPr>
          <a:lstStyle/>
          <a:p>
            <a:pPr algn="l"/>
            <a:r>
              <a:rPr sz="1400" b="0" i="0">
                <a:solidFill>
                  <a:srgbClr val="9A9AA8"/>
                </a:solidFill>
                <a:latin typeface="Calibri"/>
              </a:rPr>
              <a:t>SAE feature analysis. Every representation collapse is a documented bias site.</a:t>
            </a:r>
          </a:p>
        </p:txBody>
      </p:sp>
      <p:sp>
        <p:nvSpPr>
          <p:cNvPr id="14" name="Rectangle 13"/>
          <p:cNvSpPr/>
          <p:nvPr/>
        </p:nvSpPr>
        <p:spPr>
          <a:xfrm>
            <a:off x="640080" y="3063240"/>
            <a:ext cx="10881360" cy="91440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063240"/>
            <a:ext cx="91440" cy="91440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172968"/>
            <a:ext cx="10241280" cy="292608"/>
          </a:xfrm>
          <a:prstGeom prst="rect">
            <a:avLst/>
          </a:prstGeom>
          <a:noFill/>
        </p:spPr>
        <p:txBody>
          <a:bodyPr wrap="square">
            <a:spAutoFit/>
          </a:bodyPr>
          <a:lstStyle/>
          <a:p>
            <a:pPr algn="l"/>
            <a:r>
              <a:rPr sz="1600" b="1" i="0">
                <a:solidFill>
                  <a:srgbClr val="D4952A"/>
                </a:solidFill>
                <a:latin typeface="Calibri"/>
              </a:rPr>
              <a:t>III  Benchmark before you evaluate</a:t>
            </a:r>
          </a:p>
        </p:txBody>
      </p:sp>
      <p:sp>
        <p:nvSpPr>
          <p:cNvPr id="17" name="TextBox 16"/>
          <p:cNvSpPr txBox="1"/>
          <p:nvPr/>
        </p:nvSpPr>
        <p:spPr>
          <a:xfrm>
            <a:off x="960120" y="3483864"/>
            <a:ext cx="10241280" cy="411480"/>
          </a:xfrm>
          <a:prstGeom prst="rect">
            <a:avLst/>
          </a:prstGeom>
          <a:noFill/>
        </p:spPr>
        <p:txBody>
          <a:bodyPr wrap="square">
            <a:spAutoFit/>
          </a:bodyPr>
          <a:lstStyle/>
          <a:p>
            <a:pPr algn="l"/>
            <a:r>
              <a:rPr sz="1400" b="0" i="0">
                <a:solidFill>
                  <a:srgbClr val="9A9AA8"/>
                </a:solidFill>
                <a:latin typeface="Calibri"/>
              </a:rPr>
              <a:t>Proverb completion, communal negotiation, oral narrative coherence — not translated English.</a:t>
            </a:r>
          </a:p>
        </p:txBody>
      </p:sp>
      <p:sp>
        <p:nvSpPr>
          <p:cNvPr id="18" name="Rectangle 17"/>
          <p:cNvSpPr/>
          <p:nvPr/>
        </p:nvSpPr>
        <p:spPr>
          <a:xfrm>
            <a:off x="640080" y="4069080"/>
            <a:ext cx="10881360" cy="91440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4069080"/>
            <a:ext cx="91440" cy="91440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178808"/>
            <a:ext cx="10241280" cy="292608"/>
          </a:xfrm>
          <a:prstGeom prst="rect">
            <a:avLst/>
          </a:prstGeom>
          <a:noFill/>
        </p:spPr>
        <p:txBody>
          <a:bodyPr wrap="square">
            <a:spAutoFit/>
          </a:bodyPr>
          <a:lstStyle/>
          <a:p>
            <a:pPr algn="l"/>
            <a:r>
              <a:rPr sz="1600" b="1" i="0">
                <a:solidFill>
                  <a:srgbClr val="D4952A"/>
                </a:solidFill>
                <a:latin typeface="Calibri"/>
              </a:rPr>
              <a:t>IV  Compute sovereignty</a:t>
            </a:r>
          </a:p>
        </p:txBody>
      </p:sp>
      <p:sp>
        <p:nvSpPr>
          <p:cNvPr id="21" name="TextBox 20"/>
          <p:cNvSpPr txBox="1"/>
          <p:nvPr/>
        </p:nvSpPr>
        <p:spPr>
          <a:xfrm>
            <a:off x="960120" y="4489704"/>
            <a:ext cx="10241280" cy="411480"/>
          </a:xfrm>
          <a:prstGeom prst="rect">
            <a:avLst/>
          </a:prstGeom>
          <a:noFill/>
        </p:spPr>
        <p:txBody>
          <a:bodyPr wrap="square">
            <a:spAutoFit/>
          </a:bodyPr>
          <a:lstStyle/>
          <a:p>
            <a:pPr algn="l"/>
            <a:r>
              <a:rPr sz="1400" b="0" i="0">
                <a:solidFill>
                  <a:srgbClr val="9A9AA8"/>
                </a:solidFill>
                <a:latin typeface="Calibri"/>
              </a:rPr>
              <a:t>You cannot build sovereign AI on infrastructure you rent from San Francisco.</a:t>
            </a:r>
          </a:p>
        </p:txBody>
      </p:sp>
      <p:sp>
        <p:nvSpPr>
          <p:cNvPr id="22" name="Rectangle 21"/>
          <p:cNvSpPr/>
          <p:nvPr/>
        </p:nvSpPr>
        <p:spPr>
          <a:xfrm>
            <a:off x="640080" y="5074920"/>
            <a:ext cx="10881360" cy="91440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5074920"/>
            <a:ext cx="91440" cy="91440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5184648"/>
            <a:ext cx="10241280" cy="292608"/>
          </a:xfrm>
          <a:prstGeom prst="rect">
            <a:avLst/>
          </a:prstGeom>
          <a:noFill/>
        </p:spPr>
        <p:txBody>
          <a:bodyPr wrap="square">
            <a:spAutoFit/>
          </a:bodyPr>
          <a:lstStyle/>
          <a:p>
            <a:pPr algn="l"/>
            <a:r>
              <a:rPr sz="1600" b="1" i="0">
                <a:solidFill>
                  <a:srgbClr val="D4952A"/>
                </a:solidFill>
                <a:latin typeface="Calibri"/>
              </a:rPr>
              <a:t>V  Epistemic sovereignty</a:t>
            </a:r>
          </a:p>
        </p:txBody>
      </p:sp>
      <p:sp>
        <p:nvSpPr>
          <p:cNvPr id="25" name="TextBox 24"/>
          <p:cNvSpPr txBox="1"/>
          <p:nvPr/>
        </p:nvSpPr>
        <p:spPr>
          <a:xfrm>
            <a:off x="960120" y="5495544"/>
            <a:ext cx="10241280" cy="411480"/>
          </a:xfrm>
          <a:prstGeom prst="rect">
            <a:avLst/>
          </a:prstGeom>
          <a:noFill/>
        </p:spPr>
        <p:txBody>
          <a:bodyPr wrap="square">
            <a:spAutoFit/>
          </a:bodyPr>
          <a:lstStyle/>
          <a:p>
            <a:pPr algn="l"/>
            <a:r>
              <a:rPr sz="1400" b="0" i="0">
                <a:solidFill>
                  <a:srgbClr val="9A9AA8"/>
                </a:solidFill>
                <a:latin typeface="Calibri"/>
              </a:rPr>
              <a:t>Hardware enables this. It does not constitute it. Think in African frameworks toward African-defined futures.</a:t>
            </a:r>
          </a:p>
        </p:txBody>
      </p:sp>
      <p:sp>
        <p:nvSpPr>
          <p:cNvPr id="26" name="Rectangle 25"/>
          <p:cNvSpPr/>
          <p:nvPr/>
        </p:nvSpPr>
        <p:spPr>
          <a:xfrm>
            <a:off x="0" y="6656832"/>
            <a:ext cx="12191695" cy="201168"/>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6656832"/>
            <a:ext cx="7315200" cy="201168"/>
          </a:xfrm>
          <a:prstGeom prst="rect">
            <a:avLst/>
          </a:prstGeom>
          <a:noFill/>
        </p:spPr>
        <p:txBody>
          <a:bodyPr wrap="square">
            <a:spAutoFit/>
          </a:bodyPr>
          <a:lstStyle/>
          <a:p>
            <a:pPr algn="l"/>
            <a:r>
              <a:rPr sz="900" b="1" i="0">
                <a:solidFill>
                  <a:srgbClr val="09090A"/>
                </a:solidFill>
                <a:latin typeface="Calibri"/>
              </a:rPr>
              <a:t>LOG_ON  ·  Lagos  ·  Direction infrastructure for African AI</a:t>
            </a:r>
          </a:p>
        </p:txBody>
      </p:sp>
      <p:sp>
        <p:nvSpPr>
          <p:cNvPr id="28" name="TextBox 27"/>
          <p:cNvSpPr txBox="1"/>
          <p:nvPr/>
        </p:nvSpPr>
        <p:spPr>
          <a:xfrm>
            <a:off x="10424160" y="6656832"/>
            <a:ext cx="1371600" cy="201168"/>
          </a:xfrm>
          <a:prstGeom prst="rect">
            <a:avLst/>
          </a:prstGeom>
          <a:noFill/>
        </p:spPr>
        <p:txBody>
          <a:bodyPr wrap="square">
            <a:spAutoFit/>
          </a:bodyPr>
          <a:lstStyle/>
          <a:p>
            <a:pPr algn="r"/>
            <a:r>
              <a:rPr sz="900" b="1" i="0">
                <a:solidFill>
                  <a:srgbClr val="09090A"/>
                </a:solidFill>
                <a:latin typeface="Calibri"/>
              </a:rPr>
              <a:t>10 / 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5486400" cy="274320"/>
          </a:xfrm>
          <a:prstGeom prst="rect">
            <a:avLst/>
          </a:prstGeom>
          <a:noFill/>
        </p:spPr>
        <p:txBody>
          <a:bodyPr wrap="square">
            <a:spAutoFit/>
          </a:bodyPr>
          <a:lstStyle/>
          <a:p>
            <a:pPr algn="l"/>
            <a:r>
              <a:rPr sz="1100" b="1" i="0">
                <a:solidFill>
                  <a:srgbClr val="D4952A"/>
                </a:solidFill>
                <a:latin typeface="Calibri"/>
              </a:rPr>
              <a:t>LOG_ON</a:t>
            </a:r>
          </a:p>
        </p:txBody>
      </p:sp>
      <p:sp>
        <p:nvSpPr>
          <p:cNvPr id="5" name="TextBox 4"/>
          <p:cNvSpPr txBox="1"/>
          <p:nvPr/>
        </p:nvSpPr>
        <p:spPr>
          <a:xfrm>
            <a:off x="5943600" y="201168"/>
            <a:ext cx="5760720" cy="274320"/>
          </a:xfrm>
          <a:prstGeom prst="rect">
            <a:avLst/>
          </a:prstGeom>
          <a:noFill/>
        </p:spPr>
        <p:txBody>
          <a:bodyPr wrap="square">
            <a:spAutoFit/>
          </a:bodyPr>
          <a:lstStyle/>
          <a:p>
            <a:pPr algn="r"/>
            <a:r>
              <a:rPr sz="1100" b="0" i="0">
                <a:solidFill>
                  <a:srgbClr val="5A5A65"/>
                </a:solidFill>
                <a:latin typeface="Calibri"/>
              </a:rPr>
              <a:t>AFRICAN COGNITIVE AI  ·  BUILD SEQUENCE</a:t>
            </a:r>
          </a:p>
        </p:txBody>
      </p:sp>
      <p:sp>
        <p:nvSpPr>
          <p:cNvPr id="6" name="TextBox 5"/>
          <p:cNvSpPr txBox="1"/>
          <p:nvPr/>
        </p:nvSpPr>
        <p:spPr>
          <a:xfrm>
            <a:off x="640080" y="960120"/>
            <a:ext cx="10972800" cy="502920"/>
          </a:xfrm>
          <a:prstGeom prst="rect">
            <a:avLst/>
          </a:prstGeom>
          <a:noFill/>
        </p:spPr>
        <p:txBody>
          <a:bodyPr wrap="square">
            <a:spAutoFit/>
          </a:bodyPr>
          <a:lstStyle/>
          <a:p>
            <a:pPr algn="l"/>
            <a:r>
              <a:rPr sz="2400" b="1" i="0">
                <a:solidFill>
                  <a:srgbClr val="F4F4F8"/>
                </a:solidFill>
                <a:latin typeface="Georgia"/>
              </a:rPr>
              <a:t>The ontology unlocks the study. The study validates the ontology.</a:t>
            </a:r>
          </a:p>
        </p:txBody>
      </p:sp>
      <p:sp>
        <p:nvSpPr>
          <p:cNvPr id="7" name="Rectangle 6"/>
          <p:cNvSpPr/>
          <p:nvPr/>
        </p:nvSpPr>
        <p:spPr>
          <a:xfrm>
            <a:off x="640080" y="1691640"/>
            <a:ext cx="3566160" cy="205740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91640"/>
            <a:ext cx="73152" cy="205740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56232"/>
            <a:ext cx="3200400" cy="365760"/>
          </a:xfrm>
          <a:prstGeom prst="rect">
            <a:avLst/>
          </a:prstGeom>
          <a:noFill/>
        </p:spPr>
        <p:txBody>
          <a:bodyPr wrap="square">
            <a:spAutoFit/>
          </a:bodyPr>
          <a:lstStyle/>
          <a:p>
            <a:pPr algn="l"/>
            <a:r>
              <a:rPr sz="1400" b="1" i="0">
                <a:solidFill>
                  <a:srgbClr val="D4952A"/>
                </a:solidFill>
                <a:latin typeface="Calibri"/>
              </a:rPr>
              <a:t>NOW  ·  PAL v1.0</a:t>
            </a:r>
          </a:p>
        </p:txBody>
      </p:sp>
      <p:sp>
        <p:nvSpPr>
          <p:cNvPr id="10" name="TextBox 9"/>
          <p:cNvSpPr txBox="1"/>
          <p:nvPr/>
        </p:nvSpPr>
        <p:spPr>
          <a:xfrm>
            <a:off x="896112" y="2221992"/>
            <a:ext cx="3154680" cy="1371600"/>
          </a:xfrm>
          <a:prstGeom prst="rect">
            <a:avLst/>
          </a:prstGeom>
          <a:noFill/>
        </p:spPr>
        <p:txBody>
          <a:bodyPr wrap="square">
            <a:spAutoFit/>
          </a:bodyPr>
          <a:lstStyle/>
          <a:p>
            <a:pPr algn="l"/>
            <a:r>
              <a:rPr sz="1300" b="0" i="0">
                <a:solidFill>
                  <a:srgbClr val="9A9AA8"/>
                </a:solidFill>
                <a:latin typeface="Calibri"/>
              </a:rPr>
              <a:t>Owomoyela + Ehineni + community panels. Unlocks ideas 1, 2, 3, 6, 8.</a:t>
            </a:r>
          </a:p>
        </p:txBody>
      </p:sp>
      <p:sp>
        <p:nvSpPr>
          <p:cNvPr id="11" name="Rectangle 10"/>
          <p:cNvSpPr/>
          <p:nvPr/>
        </p:nvSpPr>
        <p:spPr>
          <a:xfrm>
            <a:off x="4389120" y="1691640"/>
            <a:ext cx="3566160" cy="205740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691640"/>
            <a:ext cx="73152" cy="205740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5152" y="1856232"/>
            <a:ext cx="3200400" cy="365760"/>
          </a:xfrm>
          <a:prstGeom prst="rect">
            <a:avLst/>
          </a:prstGeom>
          <a:noFill/>
        </p:spPr>
        <p:txBody>
          <a:bodyPr wrap="square">
            <a:spAutoFit/>
          </a:bodyPr>
          <a:lstStyle/>
          <a:p>
            <a:pPr algn="l"/>
            <a:r>
              <a:rPr sz="1400" b="1" i="0">
                <a:solidFill>
                  <a:srgbClr val="D4952A"/>
                </a:solidFill>
                <a:latin typeface="Calibri"/>
              </a:rPr>
              <a:t>FAST  ·  Matched-pair pivot</a:t>
            </a:r>
          </a:p>
        </p:txBody>
      </p:sp>
      <p:sp>
        <p:nvSpPr>
          <p:cNvPr id="14" name="TextBox 13"/>
          <p:cNvSpPr txBox="1"/>
          <p:nvPr/>
        </p:nvSpPr>
        <p:spPr>
          <a:xfrm>
            <a:off x="4645152" y="2221992"/>
            <a:ext cx="3154680" cy="1371600"/>
          </a:xfrm>
          <a:prstGeom prst="rect">
            <a:avLst/>
          </a:prstGeom>
          <a:noFill/>
        </p:spPr>
        <p:txBody>
          <a:bodyPr wrap="square">
            <a:spAutoFit/>
          </a:bodyPr>
          <a:lstStyle/>
          <a:p>
            <a:pPr algn="l"/>
            <a:r>
              <a:rPr sz="1300" b="0" i="0">
                <a:solidFill>
                  <a:srgbClr val="9A9AA8"/>
                </a:solidFill>
                <a:latin typeface="Calibri"/>
              </a:rPr>
              <a:t>Cultural math-grounding method on discourse. 40 speakers. EMNLP findings.</a:t>
            </a:r>
          </a:p>
        </p:txBody>
      </p:sp>
      <p:sp>
        <p:nvSpPr>
          <p:cNvPr id="15" name="Rectangle 14"/>
          <p:cNvSpPr/>
          <p:nvPr/>
        </p:nvSpPr>
        <p:spPr>
          <a:xfrm>
            <a:off x="8138159" y="1691640"/>
            <a:ext cx="3566160" cy="205740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59" y="1691640"/>
            <a:ext cx="73152" cy="205740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4191" y="1856232"/>
            <a:ext cx="3200400" cy="365760"/>
          </a:xfrm>
          <a:prstGeom prst="rect">
            <a:avLst/>
          </a:prstGeom>
          <a:noFill/>
        </p:spPr>
        <p:txBody>
          <a:bodyPr wrap="square">
            <a:spAutoFit/>
          </a:bodyPr>
          <a:lstStyle/>
          <a:p>
            <a:pPr algn="l"/>
            <a:r>
              <a:rPr sz="1400" b="1" i="0">
                <a:solidFill>
                  <a:srgbClr val="D4952A"/>
                </a:solidFill>
                <a:latin typeface="Calibri"/>
              </a:rPr>
              <a:t>CORE  ·  Study 1 RCT</a:t>
            </a:r>
          </a:p>
        </p:txBody>
      </p:sp>
      <p:sp>
        <p:nvSpPr>
          <p:cNvPr id="18" name="TextBox 17"/>
          <p:cNvSpPr txBox="1"/>
          <p:nvPr/>
        </p:nvSpPr>
        <p:spPr>
          <a:xfrm>
            <a:off x="8394191" y="2221992"/>
            <a:ext cx="3154680" cy="1371600"/>
          </a:xfrm>
          <a:prstGeom prst="rect">
            <a:avLst/>
          </a:prstGeom>
          <a:noFill/>
        </p:spPr>
        <p:txBody>
          <a:bodyPr wrap="square">
            <a:spAutoFit/>
          </a:bodyPr>
          <a:lstStyle/>
          <a:p>
            <a:pPr algn="l"/>
            <a:r>
              <a:rPr sz="1300" b="0" i="0">
                <a:solidFill>
                  <a:srgbClr val="9A9AA8"/>
                </a:solidFill>
                <a:latin typeface="Calibri"/>
              </a:rPr>
              <a:t>n=537 target. Comprehension, 48h retention, effort, trust, modification. CHI / Cognition.</a:t>
            </a:r>
          </a:p>
        </p:txBody>
      </p:sp>
      <p:sp>
        <p:nvSpPr>
          <p:cNvPr id="19" name="Rectangle 18"/>
          <p:cNvSpPr/>
          <p:nvPr/>
        </p:nvSpPr>
        <p:spPr>
          <a:xfrm>
            <a:off x="640080" y="3931920"/>
            <a:ext cx="3566160" cy="205740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3931920"/>
            <a:ext cx="73152" cy="205740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096512"/>
            <a:ext cx="3200400" cy="365760"/>
          </a:xfrm>
          <a:prstGeom prst="rect">
            <a:avLst/>
          </a:prstGeom>
          <a:noFill/>
        </p:spPr>
        <p:txBody>
          <a:bodyPr wrap="square">
            <a:spAutoFit/>
          </a:bodyPr>
          <a:lstStyle/>
          <a:p>
            <a:pPr algn="l"/>
            <a:r>
              <a:rPr sz="1400" b="1" i="0">
                <a:solidFill>
                  <a:srgbClr val="D4952A"/>
                </a:solidFill>
                <a:latin typeface="Calibri"/>
              </a:rPr>
              <a:t>CORE  ·  Bergen test</a:t>
            </a:r>
          </a:p>
        </p:txBody>
      </p:sp>
      <p:sp>
        <p:nvSpPr>
          <p:cNvPr id="22" name="TextBox 21"/>
          <p:cNvSpPr txBox="1"/>
          <p:nvPr/>
        </p:nvSpPr>
        <p:spPr>
          <a:xfrm>
            <a:off x="896112" y="4462272"/>
            <a:ext cx="3154680" cy="1371600"/>
          </a:xfrm>
          <a:prstGeom prst="rect">
            <a:avLst/>
          </a:prstGeom>
          <a:noFill/>
        </p:spPr>
        <p:txBody>
          <a:bodyPr wrap="square">
            <a:spAutoFit/>
          </a:bodyPr>
          <a:lstStyle/>
          <a:p>
            <a:pPr algn="l"/>
            <a:r>
              <a:rPr sz="1300" b="0" i="0">
                <a:solidFill>
                  <a:srgbClr val="9A9AA8"/>
                </a:solidFill>
                <a:latin typeface="Calibri"/>
              </a:rPr>
              <a:t>African proverb vs Western hypothetical. First cross-cultural simulation test.</a:t>
            </a:r>
          </a:p>
        </p:txBody>
      </p:sp>
      <p:sp>
        <p:nvSpPr>
          <p:cNvPr id="23" name="Rectangle 22"/>
          <p:cNvSpPr/>
          <p:nvPr/>
        </p:nvSpPr>
        <p:spPr>
          <a:xfrm>
            <a:off x="4389120" y="3931920"/>
            <a:ext cx="3566160" cy="205740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89120" y="3931920"/>
            <a:ext cx="73152" cy="205740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5152" y="4096512"/>
            <a:ext cx="3200400" cy="365760"/>
          </a:xfrm>
          <a:prstGeom prst="rect">
            <a:avLst/>
          </a:prstGeom>
          <a:noFill/>
        </p:spPr>
        <p:txBody>
          <a:bodyPr wrap="square">
            <a:spAutoFit/>
          </a:bodyPr>
          <a:lstStyle/>
          <a:p>
            <a:pPr algn="l"/>
            <a:r>
              <a:rPr sz="1400" b="1" i="0">
                <a:solidFill>
                  <a:srgbClr val="D4952A"/>
                </a:solidFill>
                <a:latin typeface="Calibri"/>
              </a:rPr>
              <a:t>LONG  ·  CHI user study</a:t>
            </a:r>
          </a:p>
        </p:txBody>
      </p:sp>
      <p:sp>
        <p:nvSpPr>
          <p:cNvPr id="26" name="TextBox 25"/>
          <p:cNvSpPr txBox="1"/>
          <p:nvPr/>
        </p:nvSpPr>
        <p:spPr>
          <a:xfrm>
            <a:off x="4645152" y="4462272"/>
            <a:ext cx="3154680" cy="1371600"/>
          </a:xfrm>
          <a:prstGeom prst="rect">
            <a:avLst/>
          </a:prstGeom>
          <a:noFill/>
        </p:spPr>
        <p:txBody>
          <a:bodyPr wrap="square">
            <a:spAutoFit/>
          </a:bodyPr>
          <a:lstStyle/>
          <a:p>
            <a:pPr algn="l"/>
            <a:r>
              <a:rPr sz="1300" b="0" i="0">
                <a:solidFill>
                  <a:srgbClr val="9A9AA8"/>
                </a:solidFill>
                <a:latin typeface="Calibri"/>
              </a:rPr>
              <a:t>Task-based, discourse-native vs standard AI. HCI community entry.</a:t>
            </a:r>
          </a:p>
        </p:txBody>
      </p:sp>
      <p:sp>
        <p:nvSpPr>
          <p:cNvPr id="27" name="Rectangle 26"/>
          <p:cNvSpPr/>
          <p:nvPr/>
        </p:nvSpPr>
        <p:spPr>
          <a:xfrm>
            <a:off x="8138159" y="3931920"/>
            <a:ext cx="3566160" cy="205740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38159" y="3931920"/>
            <a:ext cx="73152" cy="205740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94191" y="4096512"/>
            <a:ext cx="3200400" cy="365760"/>
          </a:xfrm>
          <a:prstGeom prst="rect">
            <a:avLst/>
          </a:prstGeom>
          <a:noFill/>
        </p:spPr>
        <p:txBody>
          <a:bodyPr wrap="square">
            <a:spAutoFit/>
          </a:bodyPr>
          <a:lstStyle/>
          <a:p>
            <a:pPr algn="l"/>
            <a:r>
              <a:rPr sz="1400" b="1" i="0">
                <a:solidFill>
                  <a:srgbClr val="D4952A"/>
                </a:solidFill>
                <a:latin typeface="Calibri"/>
              </a:rPr>
              <a:t>GRANT  ·  Schmidt 2026</a:t>
            </a:r>
          </a:p>
        </p:txBody>
      </p:sp>
      <p:sp>
        <p:nvSpPr>
          <p:cNvPr id="30" name="TextBox 29"/>
          <p:cNvSpPr txBox="1"/>
          <p:nvPr/>
        </p:nvSpPr>
        <p:spPr>
          <a:xfrm>
            <a:off x="8394191" y="4462272"/>
            <a:ext cx="3154680" cy="1371600"/>
          </a:xfrm>
          <a:prstGeom prst="rect">
            <a:avLst/>
          </a:prstGeom>
          <a:noFill/>
        </p:spPr>
        <p:txBody>
          <a:bodyPr wrap="square">
            <a:spAutoFit/>
          </a:bodyPr>
          <a:lstStyle/>
          <a:p>
            <a:pPr algn="l"/>
            <a:r>
              <a:rPr sz="1300" b="0" i="0">
                <a:solidFill>
                  <a:srgbClr val="9A9AA8"/>
                </a:solidFill>
                <a:latin typeface="Calibri"/>
              </a:rPr>
              <a:t>Whitebox probes at the translation layer. $947k. 24 months.</a:t>
            </a:r>
          </a:p>
        </p:txBody>
      </p:sp>
      <p:sp>
        <p:nvSpPr>
          <p:cNvPr id="31" name="Rectangle 30"/>
          <p:cNvSpPr/>
          <p:nvPr/>
        </p:nvSpPr>
        <p:spPr>
          <a:xfrm>
            <a:off x="0" y="6656832"/>
            <a:ext cx="12191695" cy="201168"/>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6656832"/>
            <a:ext cx="7315200" cy="201168"/>
          </a:xfrm>
          <a:prstGeom prst="rect">
            <a:avLst/>
          </a:prstGeom>
          <a:noFill/>
        </p:spPr>
        <p:txBody>
          <a:bodyPr wrap="square">
            <a:spAutoFit/>
          </a:bodyPr>
          <a:lstStyle/>
          <a:p>
            <a:pPr algn="l"/>
            <a:r>
              <a:rPr sz="900" b="1" i="0">
                <a:solidFill>
                  <a:srgbClr val="09090A"/>
                </a:solidFill>
                <a:latin typeface="Calibri"/>
              </a:rPr>
              <a:t>LOG_ON  ·  Lagos  ·  Direction infrastructure for African AI</a:t>
            </a:r>
          </a:p>
        </p:txBody>
      </p:sp>
      <p:sp>
        <p:nvSpPr>
          <p:cNvPr id="33" name="TextBox 32"/>
          <p:cNvSpPr txBox="1"/>
          <p:nvPr/>
        </p:nvSpPr>
        <p:spPr>
          <a:xfrm>
            <a:off x="10424160" y="6656832"/>
            <a:ext cx="1371600" cy="201168"/>
          </a:xfrm>
          <a:prstGeom prst="rect">
            <a:avLst/>
          </a:prstGeom>
          <a:noFill/>
        </p:spPr>
        <p:txBody>
          <a:bodyPr wrap="square">
            <a:spAutoFit/>
          </a:bodyPr>
          <a:lstStyle/>
          <a:p>
            <a:pPr algn="r"/>
            <a:r>
              <a:rPr sz="900" b="1" i="0">
                <a:solidFill>
                  <a:srgbClr val="09090A"/>
                </a:solidFill>
                <a:latin typeface="Calibri"/>
              </a:rPr>
              <a:t>11 /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5486400" cy="274320"/>
          </a:xfrm>
          <a:prstGeom prst="rect">
            <a:avLst/>
          </a:prstGeom>
          <a:noFill/>
        </p:spPr>
        <p:txBody>
          <a:bodyPr wrap="square">
            <a:spAutoFit/>
          </a:bodyPr>
          <a:lstStyle/>
          <a:p>
            <a:pPr algn="l"/>
            <a:r>
              <a:rPr sz="1100" b="1" i="0">
                <a:solidFill>
                  <a:srgbClr val="D4952A"/>
                </a:solidFill>
                <a:latin typeface="Calibri"/>
              </a:rPr>
              <a:t>LOG_ON</a:t>
            </a:r>
          </a:p>
        </p:txBody>
      </p:sp>
      <p:sp>
        <p:nvSpPr>
          <p:cNvPr id="5" name="TextBox 4"/>
          <p:cNvSpPr txBox="1"/>
          <p:nvPr/>
        </p:nvSpPr>
        <p:spPr>
          <a:xfrm>
            <a:off x="5943600" y="201168"/>
            <a:ext cx="5760720" cy="274320"/>
          </a:xfrm>
          <a:prstGeom prst="rect">
            <a:avLst/>
          </a:prstGeom>
          <a:noFill/>
        </p:spPr>
        <p:txBody>
          <a:bodyPr wrap="square">
            <a:spAutoFit/>
          </a:bodyPr>
          <a:lstStyle/>
          <a:p>
            <a:pPr algn="r"/>
            <a:r>
              <a:rPr sz="1100" b="0" i="0">
                <a:solidFill>
                  <a:srgbClr val="5A5A65"/>
                </a:solidFill>
                <a:latin typeface="Calibri"/>
              </a:rPr>
              <a:t>THE MEASUREMENT FAILURE</a:t>
            </a:r>
          </a:p>
        </p:txBody>
      </p:sp>
      <p:sp>
        <p:nvSpPr>
          <p:cNvPr id="6" name="TextBox 5"/>
          <p:cNvSpPr txBox="1"/>
          <p:nvPr/>
        </p:nvSpPr>
        <p:spPr>
          <a:xfrm>
            <a:off x="640080" y="1005840"/>
            <a:ext cx="10972800" cy="640080"/>
          </a:xfrm>
          <a:prstGeom prst="rect">
            <a:avLst/>
          </a:prstGeom>
          <a:noFill/>
        </p:spPr>
        <p:txBody>
          <a:bodyPr wrap="square">
            <a:spAutoFit/>
          </a:bodyPr>
          <a:lstStyle/>
          <a:p>
            <a:pPr algn="l"/>
            <a:r>
              <a:rPr sz="3200" b="1" i="0">
                <a:solidFill>
                  <a:srgbClr val="F4F4F8"/>
                </a:solidFill>
                <a:latin typeface="Georgia"/>
              </a:rPr>
              <a:t>The Benchmark Paradox</a:t>
            </a:r>
          </a:p>
        </p:txBody>
      </p:sp>
      <p:sp>
        <p:nvSpPr>
          <p:cNvPr id="7" name="TextBox 6"/>
          <p:cNvSpPr txBox="1"/>
          <p:nvPr/>
        </p:nvSpPr>
        <p:spPr>
          <a:xfrm>
            <a:off x="640080" y="1737360"/>
            <a:ext cx="10972800" cy="1005840"/>
          </a:xfrm>
          <a:prstGeom prst="rect">
            <a:avLst/>
          </a:prstGeom>
          <a:noFill/>
        </p:spPr>
        <p:txBody>
          <a:bodyPr wrap="square">
            <a:spAutoFit/>
          </a:bodyPr>
          <a:lstStyle/>
          <a:p>
            <a:pPr algn="l"/>
            <a:r>
              <a:rPr sz="1600" b="0" i="0">
                <a:solidFill>
                  <a:srgbClr val="9A9AA8"/>
                </a:solidFill>
                <a:latin typeface="Calibri"/>
              </a:rPr>
              <a:t>When a model produces discourse-authentic Yoruba — story-first, community-referenced, proverb-closed — every automated metric penalises it. Human Yoruba speakers prefer it. Correlation is negative.</a:t>
            </a:r>
          </a:p>
        </p:txBody>
      </p:sp>
      <p:sp>
        <p:nvSpPr>
          <p:cNvPr id="8" name="Rectangle 7"/>
          <p:cNvSpPr/>
          <p:nvPr/>
        </p:nvSpPr>
        <p:spPr>
          <a:xfrm>
            <a:off x="640080" y="3017520"/>
            <a:ext cx="5394960" cy="292608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017520"/>
            <a:ext cx="73152" cy="292608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3182112"/>
            <a:ext cx="5029200" cy="365760"/>
          </a:xfrm>
          <a:prstGeom prst="rect">
            <a:avLst/>
          </a:prstGeom>
          <a:noFill/>
        </p:spPr>
        <p:txBody>
          <a:bodyPr wrap="square">
            <a:spAutoFit/>
          </a:bodyPr>
          <a:lstStyle/>
          <a:p>
            <a:pPr algn="l"/>
            <a:r>
              <a:rPr sz="1400" b="1" i="0">
                <a:solidFill>
                  <a:srgbClr val="D4952A"/>
                </a:solidFill>
                <a:latin typeface="Calibri"/>
              </a:rPr>
              <a:t>VERSION A  ·  STANDARD AI</a:t>
            </a:r>
          </a:p>
        </p:txBody>
      </p:sp>
      <p:sp>
        <p:nvSpPr>
          <p:cNvPr id="11" name="TextBox 10"/>
          <p:cNvSpPr txBox="1"/>
          <p:nvPr/>
        </p:nvSpPr>
        <p:spPr>
          <a:xfrm>
            <a:off x="896112" y="3547872"/>
            <a:ext cx="4983480" cy="2240280"/>
          </a:xfrm>
          <a:prstGeom prst="rect">
            <a:avLst/>
          </a:prstGeom>
          <a:noFill/>
        </p:spPr>
        <p:txBody>
          <a:bodyPr wrap="square">
            <a:spAutoFit/>
          </a:bodyPr>
          <a:lstStyle/>
          <a:p>
            <a:pPr algn="l"/>
            <a:r>
              <a:rPr sz="1300" b="0" i="0">
                <a:solidFill>
                  <a:srgbClr val="9A9AA8"/>
                </a:solidFill>
                <a:latin typeface="Calibri"/>
              </a:rPr>
              <a:t>Definition-first, evidence-cited, recommendation-closed. BLEU and BERTScore reward proximity to English-origin reference. AfroBench reads register shift as error.</a:t>
            </a:r>
          </a:p>
        </p:txBody>
      </p:sp>
      <p:sp>
        <p:nvSpPr>
          <p:cNvPr id="12" name="Rectangle 11"/>
          <p:cNvSpPr/>
          <p:nvPr/>
        </p:nvSpPr>
        <p:spPr>
          <a:xfrm>
            <a:off x="6263640" y="3017520"/>
            <a:ext cx="5303520" cy="292608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3017520"/>
            <a:ext cx="73152" cy="292608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9672" y="3182112"/>
            <a:ext cx="4937760" cy="365760"/>
          </a:xfrm>
          <a:prstGeom prst="rect">
            <a:avLst/>
          </a:prstGeom>
          <a:noFill/>
        </p:spPr>
        <p:txBody>
          <a:bodyPr wrap="square">
            <a:spAutoFit/>
          </a:bodyPr>
          <a:lstStyle/>
          <a:p>
            <a:pPr algn="l"/>
            <a:r>
              <a:rPr sz="1400" b="1" i="0">
                <a:solidFill>
                  <a:srgbClr val="D4952A"/>
                </a:solidFill>
                <a:latin typeface="Calibri"/>
              </a:rPr>
              <a:t>VERSION B  ·  DISCOURSE-ALIGNED</a:t>
            </a:r>
          </a:p>
        </p:txBody>
      </p:sp>
      <p:sp>
        <p:nvSpPr>
          <p:cNvPr id="15" name="TextBox 14"/>
          <p:cNvSpPr txBox="1"/>
          <p:nvPr/>
        </p:nvSpPr>
        <p:spPr>
          <a:xfrm>
            <a:off x="6519672" y="3547872"/>
            <a:ext cx="4892040" cy="2240280"/>
          </a:xfrm>
          <a:prstGeom prst="rect">
            <a:avLst/>
          </a:prstGeom>
          <a:noFill/>
        </p:spPr>
        <p:txBody>
          <a:bodyPr wrap="square">
            <a:spAutoFit/>
          </a:bodyPr>
          <a:lstStyle/>
          <a:p>
            <a:pPr algn="l"/>
            <a:r>
              <a:rPr sz="1300" b="0" i="0">
                <a:solidFill>
                  <a:srgbClr val="9A9AA8"/>
                </a:solidFill>
                <a:latin typeface="Calibri"/>
              </a:rPr>
              <a:t>Story of Mama Kehinde at Bodija. Maize-roots proverb as closing crystallisation. Human cultural relevance 4.2–4.8 vs 2.0–2.8. The benchmark cannot see this.</a:t>
            </a:r>
          </a:p>
        </p:txBody>
      </p:sp>
      <p:sp>
        <p:nvSpPr>
          <p:cNvPr id="16" name="Rectangle 15"/>
          <p:cNvSpPr/>
          <p:nvPr/>
        </p:nvSpPr>
        <p:spPr>
          <a:xfrm>
            <a:off x="0" y="6656832"/>
            <a:ext cx="12191695" cy="201168"/>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6656832"/>
            <a:ext cx="7315200" cy="201168"/>
          </a:xfrm>
          <a:prstGeom prst="rect">
            <a:avLst/>
          </a:prstGeom>
          <a:noFill/>
        </p:spPr>
        <p:txBody>
          <a:bodyPr wrap="square">
            <a:spAutoFit/>
          </a:bodyPr>
          <a:lstStyle/>
          <a:p>
            <a:pPr algn="l"/>
            <a:r>
              <a:rPr sz="900" b="1" i="0">
                <a:solidFill>
                  <a:srgbClr val="09090A"/>
                </a:solidFill>
                <a:latin typeface="Calibri"/>
              </a:rPr>
              <a:t>LOG_ON  ·  Lagos  ·  Direction infrastructure for African AI</a:t>
            </a:r>
          </a:p>
        </p:txBody>
      </p:sp>
      <p:sp>
        <p:nvSpPr>
          <p:cNvPr id="18" name="TextBox 17"/>
          <p:cNvSpPr txBox="1"/>
          <p:nvPr/>
        </p:nvSpPr>
        <p:spPr>
          <a:xfrm>
            <a:off x="10424160" y="6656832"/>
            <a:ext cx="1371600" cy="201168"/>
          </a:xfrm>
          <a:prstGeom prst="rect">
            <a:avLst/>
          </a:prstGeom>
          <a:noFill/>
        </p:spPr>
        <p:txBody>
          <a:bodyPr wrap="square">
            <a:spAutoFit/>
          </a:bodyPr>
          <a:lstStyle/>
          <a:p>
            <a:pPr algn="r"/>
            <a:r>
              <a:rPr sz="900" b="1" i="0">
                <a:solidFill>
                  <a:srgbClr val="09090A"/>
                </a:solidFill>
                <a:latin typeface="Calibri"/>
              </a:rPr>
              <a:t>12 / 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5486400" cy="274320"/>
          </a:xfrm>
          <a:prstGeom prst="rect">
            <a:avLst/>
          </a:prstGeom>
          <a:noFill/>
        </p:spPr>
        <p:txBody>
          <a:bodyPr wrap="square">
            <a:spAutoFit/>
          </a:bodyPr>
          <a:lstStyle/>
          <a:p>
            <a:pPr algn="l"/>
            <a:r>
              <a:rPr sz="1100" b="1" i="0">
                <a:solidFill>
                  <a:srgbClr val="D4952A"/>
                </a:solidFill>
                <a:latin typeface="Calibri"/>
              </a:rPr>
              <a:t>LOG_ON</a:t>
            </a:r>
          </a:p>
        </p:txBody>
      </p:sp>
      <p:sp>
        <p:nvSpPr>
          <p:cNvPr id="5" name="TextBox 4"/>
          <p:cNvSpPr txBox="1"/>
          <p:nvPr/>
        </p:nvSpPr>
        <p:spPr>
          <a:xfrm>
            <a:off x="5943600" y="201168"/>
            <a:ext cx="5760720" cy="274320"/>
          </a:xfrm>
          <a:prstGeom prst="rect">
            <a:avLst/>
          </a:prstGeom>
          <a:noFill/>
        </p:spPr>
        <p:txBody>
          <a:bodyPr wrap="square">
            <a:spAutoFit/>
          </a:bodyPr>
          <a:lstStyle/>
          <a:p>
            <a:pPr algn="r"/>
            <a:r>
              <a:rPr sz="1100" b="0" i="0">
                <a:solidFill>
                  <a:srgbClr val="5A5A65"/>
                </a:solidFill>
                <a:latin typeface="Calibri"/>
              </a:rPr>
              <a:t>STUDY 1 OF 3</a:t>
            </a:r>
          </a:p>
        </p:txBody>
      </p:sp>
      <p:sp>
        <p:nvSpPr>
          <p:cNvPr id="6" name="TextBox 5"/>
          <p:cNvSpPr txBox="1"/>
          <p:nvPr/>
        </p:nvSpPr>
        <p:spPr>
          <a:xfrm>
            <a:off x="640080" y="960120"/>
            <a:ext cx="10972800" cy="640080"/>
          </a:xfrm>
          <a:prstGeom prst="rect">
            <a:avLst/>
          </a:prstGeom>
          <a:noFill/>
        </p:spPr>
        <p:txBody>
          <a:bodyPr wrap="square">
            <a:spAutoFit/>
          </a:bodyPr>
          <a:lstStyle/>
          <a:p>
            <a:pPr algn="l"/>
            <a:r>
              <a:rPr sz="2600" b="1" i="0">
                <a:solidFill>
                  <a:srgbClr val="F4F4F8"/>
                </a:solidFill>
                <a:latin typeface="Georgia"/>
              </a:rPr>
              <a:t>Does discourse structure determine comprehension?</a:t>
            </a:r>
          </a:p>
        </p:txBody>
      </p:sp>
      <p:sp>
        <p:nvSpPr>
          <p:cNvPr id="7" name="TextBox 6"/>
          <p:cNvSpPr txBox="1"/>
          <p:nvPr/>
        </p:nvSpPr>
        <p:spPr>
          <a:xfrm>
            <a:off x="640080" y="1737360"/>
            <a:ext cx="5486400" cy="4206240"/>
          </a:xfrm>
          <a:prstGeom prst="rect">
            <a:avLst/>
          </a:prstGeom>
          <a:noFill/>
        </p:spPr>
        <p:txBody>
          <a:bodyPr wrap="square">
            <a:spAutoFit/>
          </a:bodyPr>
          <a:lstStyle/>
          <a:p>
            <a:pPr>
              <a:spcAft>
                <a:spcPts val="1000"/>
              </a:spcAft>
            </a:pPr>
            <a:r>
              <a:rPr sz="1600">
                <a:solidFill>
                  <a:srgbClr val="9A9AA8"/>
                </a:solidFill>
                <a:latin typeface="Calibri"/>
              </a:rPr>
              <a:t>▸  3-group between-subjects. Conditions A / B / C (proverb, story-only, standard AI).</a:t>
            </a:r>
          </a:p>
          <a:p>
            <a:pPr>
              <a:spcAft>
                <a:spcPts val="1000"/>
              </a:spcAft>
            </a:pPr>
            <a:r>
              <a:rPr sz="1600">
                <a:solidFill>
                  <a:srgbClr val="9A9AA8"/>
                </a:solidFill>
                <a:latin typeface="Calibri"/>
              </a:rPr>
              <a:t>▸  Five outcomes: immediate comprehension, 48-hour retention, cognitive effort, trust, modification.</a:t>
            </a:r>
          </a:p>
          <a:p>
            <a:pPr>
              <a:spcAft>
                <a:spcPts val="1000"/>
              </a:spcAft>
            </a:pPr>
            <a:r>
              <a:rPr sz="1600">
                <a:solidFill>
                  <a:srgbClr val="9A9AA8"/>
                </a:solidFill>
                <a:latin typeface="Calibri"/>
              </a:rPr>
              <a:t>▸  Powered on the bottleneck: effort d=0.35 → n=155/group, 537 with attrition.</a:t>
            </a:r>
          </a:p>
          <a:p>
            <a:pPr>
              <a:spcAft>
                <a:spcPts val="1000"/>
              </a:spcAft>
            </a:pPr>
            <a:r>
              <a:rPr sz="1600">
                <a:solidFill>
                  <a:srgbClr val="9A9AA8"/>
                </a:solidFill>
                <a:latin typeface="Calibri"/>
              </a:rPr>
              <a:t>▸  OTE-I: 17-item Oral Tradition Exposure Index.</a:t>
            </a:r>
          </a:p>
          <a:p>
            <a:pPr>
              <a:spcAft>
                <a:spcPts val="1000"/>
              </a:spcAft>
            </a:pPr>
            <a:r>
              <a:rPr sz="1600">
                <a:solidFill>
                  <a:srgbClr val="9A9AA8"/>
                </a:solidFill>
                <a:latin typeface="Calibri"/>
              </a:rPr>
              <a:t>▸  Pre-committed patterns A / B / C. A null result is useful — it stops five years of unvalidated building.</a:t>
            </a:r>
          </a:p>
          <a:p>
            <a:pPr>
              <a:spcAft>
                <a:spcPts val="1000"/>
              </a:spcAft>
            </a:pPr>
            <a:r>
              <a:rPr sz="1600">
                <a:solidFill>
                  <a:srgbClr val="9A9AA8"/>
                </a:solidFill>
                <a:latin typeface="Calibri"/>
              </a:rPr>
              <a:t>▸  Zero of 884 African NLP papers (2019–2026) meet all five inclusion criteria.</a:t>
            </a:r>
          </a:p>
        </p:txBody>
      </p:sp>
      <p:sp>
        <p:nvSpPr>
          <p:cNvPr id="8" name="Rectangle 7"/>
          <p:cNvSpPr/>
          <p:nvPr/>
        </p:nvSpPr>
        <p:spPr>
          <a:xfrm>
            <a:off x="6583680" y="1737360"/>
            <a:ext cx="4937760" cy="420624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0" y="1737360"/>
            <a:ext cx="73152" cy="420624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1901952"/>
            <a:ext cx="4572000" cy="365760"/>
          </a:xfrm>
          <a:prstGeom prst="rect">
            <a:avLst/>
          </a:prstGeom>
          <a:noFill/>
        </p:spPr>
        <p:txBody>
          <a:bodyPr wrap="square">
            <a:spAutoFit/>
          </a:bodyPr>
          <a:lstStyle/>
          <a:p>
            <a:pPr algn="l"/>
            <a:r>
              <a:rPr sz="1400" b="1" i="0">
                <a:solidFill>
                  <a:srgbClr val="D4952A"/>
                </a:solidFill>
                <a:latin typeface="Calibri"/>
              </a:rPr>
              <a:t>WHY THIS HAS NOT BEEN DONE</a:t>
            </a:r>
          </a:p>
        </p:txBody>
      </p:sp>
      <p:sp>
        <p:nvSpPr>
          <p:cNvPr id="11" name="TextBox 10"/>
          <p:cNvSpPr txBox="1"/>
          <p:nvPr/>
        </p:nvSpPr>
        <p:spPr>
          <a:xfrm>
            <a:off x="6839712" y="2267712"/>
            <a:ext cx="4526280" cy="3520440"/>
          </a:xfrm>
          <a:prstGeom prst="rect">
            <a:avLst/>
          </a:prstGeom>
          <a:noFill/>
        </p:spPr>
        <p:txBody>
          <a:bodyPr wrap="square">
            <a:spAutoFit/>
          </a:bodyPr>
          <a:lstStyle/>
          <a:p>
            <a:pPr algn="l"/>
            <a:r>
              <a:rPr sz="1300" b="0" i="0">
                <a:solidFill>
                  <a:srgbClr val="9A9AA8"/>
                </a:solidFill>
                <a:latin typeface="Calibri"/>
              </a:rPr>
              <a:t>Disciplinary separation. Cognitive scientist + Yoruba linguist + LLM operator + Nigerian university access have not been in the same room. This study is coordination, not a new capability.</a:t>
            </a:r>
          </a:p>
        </p:txBody>
      </p:sp>
      <p:sp>
        <p:nvSpPr>
          <p:cNvPr id="12" name="Rectangle 11"/>
          <p:cNvSpPr/>
          <p:nvPr/>
        </p:nvSpPr>
        <p:spPr>
          <a:xfrm>
            <a:off x="0" y="6656832"/>
            <a:ext cx="12191695" cy="201168"/>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656832"/>
            <a:ext cx="7315200" cy="201168"/>
          </a:xfrm>
          <a:prstGeom prst="rect">
            <a:avLst/>
          </a:prstGeom>
          <a:noFill/>
        </p:spPr>
        <p:txBody>
          <a:bodyPr wrap="square">
            <a:spAutoFit/>
          </a:bodyPr>
          <a:lstStyle/>
          <a:p>
            <a:pPr algn="l"/>
            <a:r>
              <a:rPr sz="900" b="1" i="0">
                <a:solidFill>
                  <a:srgbClr val="09090A"/>
                </a:solidFill>
                <a:latin typeface="Calibri"/>
              </a:rPr>
              <a:t>LOG_ON  ·  Lagos  ·  Direction infrastructure for African AI</a:t>
            </a:r>
          </a:p>
        </p:txBody>
      </p:sp>
      <p:sp>
        <p:nvSpPr>
          <p:cNvPr id="14" name="TextBox 13"/>
          <p:cNvSpPr txBox="1"/>
          <p:nvPr/>
        </p:nvSpPr>
        <p:spPr>
          <a:xfrm>
            <a:off x="10424160" y="6656832"/>
            <a:ext cx="1371600" cy="201168"/>
          </a:xfrm>
          <a:prstGeom prst="rect">
            <a:avLst/>
          </a:prstGeom>
          <a:noFill/>
        </p:spPr>
        <p:txBody>
          <a:bodyPr wrap="square">
            <a:spAutoFit/>
          </a:bodyPr>
          <a:lstStyle/>
          <a:p>
            <a:pPr algn="r"/>
            <a:r>
              <a:rPr sz="900" b="1" i="0">
                <a:solidFill>
                  <a:srgbClr val="09090A"/>
                </a:solidFill>
                <a:latin typeface="Calibri"/>
              </a:rPr>
              <a:t>13 / 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5486400" cy="274320"/>
          </a:xfrm>
          <a:prstGeom prst="rect">
            <a:avLst/>
          </a:prstGeom>
          <a:noFill/>
        </p:spPr>
        <p:txBody>
          <a:bodyPr wrap="square">
            <a:spAutoFit/>
          </a:bodyPr>
          <a:lstStyle/>
          <a:p>
            <a:pPr algn="l"/>
            <a:r>
              <a:rPr sz="1100" b="1" i="0">
                <a:solidFill>
                  <a:srgbClr val="D4952A"/>
                </a:solidFill>
                <a:latin typeface="Calibri"/>
              </a:rPr>
              <a:t>LOG_ON</a:t>
            </a:r>
          </a:p>
        </p:txBody>
      </p:sp>
      <p:sp>
        <p:nvSpPr>
          <p:cNvPr id="5" name="TextBox 4"/>
          <p:cNvSpPr txBox="1"/>
          <p:nvPr/>
        </p:nvSpPr>
        <p:spPr>
          <a:xfrm>
            <a:off x="5943600" y="201168"/>
            <a:ext cx="5760720" cy="274320"/>
          </a:xfrm>
          <a:prstGeom prst="rect">
            <a:avLst/>
          </a:prstGeom>
          <a:noFill/>
        </p:spPr>
        <p:txBody>
          <a:bodyPr wrap="square">
            <a:spAutoFit/>
          </a:bodyPr>
          <a:lstStyle/>
          <a:p>
            <a:pPr algn="r"/>
            <a:r>
              <a:rPr sz="1100" b="0" i="0">
                <a:solidFill>
                  <a:srgbClr val="5A5A65"/>
                </a:solidFill>
                <a:latin typeface="Calibri"/>
              </a:rPr>
              <a:t>STUDY 2  ·  PROVERB ACTIVATION LIBRARY</a:t>
            </a:r>
          </a:p>
        </p:txBody>
      </p:sp>
      <p:sp>
        <p:nvSpPr>
          <p:cNvPr id="6" name="TextBox 5"/>
          <p:cNvSpPr txBox="1"/>
          <p:nvPr/>
        </p:nvSpPr>
        <p:spPr>
          <a:xfrm>
            <a:off x="640080" y="960120"/>
            <a:ext cx="10972800" cy="502920"/>
          </a:xfrm>
          <a:prstGeom prst="rect">
            <a:avLst/>
          </a:prstGeom>
          <a:noFill/>
        </p:spPr>
        <p:txBody>
          <a:bodyPr wrap="square">
            <a:spAutoFit/>
          </a:bodyPr>
          <a:lstStyle/>
          <a:p>
            <a:pPr algn="l"/>
            <a:r>
              <a:rPr sz="2600" b="0" i="1">
                <a:solidFill>
                  <a:srgbClr val="F4F4F8"/>
                </a:solidFill>
                <a:latin typeface="Georgia"/>
              </a:rPr>
              <a:t>AI can retrieve a proverb. It cannot deploy one.</a:t>
            </a:r>
          </a:p>
        </p:txBody>
      </p:sp>
      <p:sp>
        <p:nvSpPr>
          <p:cNvPr id="7" name="Rectangle 6"/>
          <p:cNvSpPr/>
          <p:nvPr/>
        </p:nvSpPr>
        <p:spPr>
          <a:xfrm>
            <a:off x="640080" y="1645920"/>
            <a:ext cx="5760720" cy="530352"/>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55648"/>
            <a:ext cx="5394960" cy="365760"/>
          </a:xfrm>
          <a:prstGeom prst="rect">
            <a:avLst/>
          </a:prstGeom>
          <a:noFill/>
        </p:spPr>
        <p:txBody>
          <a:bodyPr wrap="square">
            <a:spAutoFit/>
          </a:bodyPr>
          <a:lstStyle/>
          <a:p>
            <a:pPr algn="l"/>
            <a:r>
              <a:rPr sz="1600" b="1" i="0">
                <a:solidFill>
                  <a:srgbClr val="E8E8F0"/>
                </a:solidFill>
                <a:latin typeface="Calibri"/>
              </a:rPr>
              <a:t>D1 Simulation domain</a:t>
            </a:r>
          </a:p>
        </p:txBody>
      </p:sp>
      <p:sp>
        <p:nvSpPr>
          <p:cNvPr id="9" name="Rectangle 8"/>
          <p:cNvSpPr/>
          <p:nvPr/>
        </p:nvSpPr>
        <p:spPr>
          <a:xfrm>
            <a:off x="640080" y="2240280"/>
            <a:ext cx="5760720" cy="530352"/>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350008"/>
            <a:ext cx="5394960" cy="365760"/>
          </a:xfrm>
          <a:prstGeom prst="rect">
            <a:avLst/>
          </a:prstGeom>
          <a:noFill/>
        </p:spPr>
        <p:txBody>
          <a:bodyPr wrap="square">
            <a:spAutoFit/>
          </a:bodyPr>
          <a:lstStyle/>
          <a:p>
            <a:pPr algn="l"/>
            <a:r>
              <a:rPr sz="1600" b="1" i="0">
                <a:solidFill>
                  <a:srgbClr val="E8E8F0"/>
                </a:solidFill>
                <a:latin typeface="Calibri"/>
              </a:rPr>
              <a:t>D2 Conceptual domain</a:t>
            </a:r>
          </a:p>
        </p:txBody>
      </p:sp>
      <p:sp>
        <p:nvSpPr>
          <p:cNvPr id="11" name="Rectangle 10"/>
          <p:cNvSpPr/>
          <p:nvPr/>
        </p:nvSpPr>
        <p:spPr>
          <a:xfrm>
            <a:off x="640080" y="2834640"/>
            <a:ext cx="5760720" cy="530352"/>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944368"/>
            <a:ext cx="5394960" cy="365760"/>
          </a:xfrm>
          <a:prstGeom prst="rect">
            <a:avLst/>
          </a:prstGeom>
          <a:noFill/>
        </p:spPr>
        <p:txBody>
          <a:bodyPr wrap="square">
            <a:spAutoFit/>
          </a:bodyPr>
          <a:lstStyle/>
          <a:p>
            <a:pPr algn="l"/>
            <a:r>
              <a:rPr sz="1600" b="1" i="0">
                <a:solidFill>
                  <a:srgbClr val="E8E8F0"/>
                </a:solidFill>
                <a:latin typeface="Calibri"/>
              </a:rPr>
              <a:t>D3 Discourse position</a:t>
            </a:r>
          </a:p>
        </p:txBody>
      </p:sp>
      <p:sp>
        <p:nvSpPr>
          <p:cNvPr id="13" name="Rectangle 12"/>
          <p:cNvSpPr/>
          <p:nvPr/>
        </p:nvSpPr>
        <p:spPr>
          <a:xfrm>
            <a:off x="640080" y="3429000"/>
            <a:ext cx="5760720" cy="530352"/>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538728"/>
            <a:ext cx="5394960" cy="365760"/>
          </a:xfrm>
          <a:prstGeom prst="rect">
            <a:avLst/>
          </a:prstGeom>
          <a:noFill/>
        </p:spPr>
        <p:txBody>
          <a:bodyPr wrap="square">
            <a:spAutoFit/>
          </a:bodyPr>
          <a:lstStyle/>
          <a:p>
            <a:pPr algn="l"/>
            <a:r>
              <a:rPr sz="1600" b="1" i="0">
                <a:solidFill>
                  <a:srgbClr val="E8E8F0"/>
                </a:solidFill>
                <a:latin typeface="Calibri"/>
              </a:rPr>
              <a:t>D4 Speech act</a:t>
            </a:r>
          </a:p>
        </p:txBody>
      </p:sp>
      <p:sp>
        <p:nvSpPr>
          <p:cNvPr id="15" name="Rectangle 14"/>
          <p:cNvSpPr/>
          <p:nvPr/>
        </p:nvSpPr>
        <p:spPr>
          <a:xfrm>
            <a:off x="640080" y="4023360"/>
            <a:ext cx="5760720" cy="530352"/>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133088"/>
            <a:ext cx="5394960" cy="365760"/>
          </a:xfrm>
          <a:prstGeom prst="rect">
            <a:avLst/>
          </a:prstGeom>
          <a:noFill/>
        </p:spPr>
        <p:txBody>
          <a:bodyPr wrap="square">
            <a:spAutoFit/>
          </a:bodyPr>
          <a:lstStyle/>
          <a:p>
            <a:pPr algn="l"/>
            <a:r>
              <a:rPr sz="1600" b="1" i="0">
                <a:solidFill>
                  <a:srgbClr val="E8E8F0"/>
                </a:solidFill>
                <a:latin typeface="Calibri"/>
              </a:rPr>
              <a:t>D5 Relationship register</a:t>
            </a:r>
          </a:p>
        </p:txBody>
      </p:sp>
      <p:sp>
        <p:nvSpPr>
          <p:cNvPr id="17" name="Rectangle 16"/>
          <p:cNvSpPr/>
          <p:nvPr/>
        </p:nvSpPr>
        <p:spPr>
          <a:xfrm>
            <a:off x="640080" y="4617720"/>
            <a:ext cx="5760720" cy="530352"/>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727448"/>
            <a:ext cx="5394960" cy="365760"/>
          </a:xfrm>
          <a:prstGeom prst="rect">
            <a:avLst/>
          </a:prstGeom>
          <a:noFill/>
        </p:spPr>
        <p:txBody>
          <a:bodyPr wrap="square">
            <a:spAutoFit/>
          </a:bodyPr>
          <a:lstStyle/>
          <a:p>
            <a:pPr algn="l"/>
            <a:r>
              <a:rPr sz="1600" b="1" i="0">
                <a:solidFill>
                  <a:srgbClr val="E8E8F0"/>
                </a:solidFill>
                <a:latin typeface="Calibri"/>
              </a:rPr>
              <a:t>D6 Community specificity</a:t>
            </a:r>
          </a:p>
        </p:txBody>
      </p:sp>
      <p:sp>
        <p:nvSpPr>
          <p:cNvPr id="19" name="Rectangle 18"/>
          <p:cNvSpPr/>
          <p:nvPr/>
        </p:nvSpPr>
        <p:spPr>
          <a:xfrm>
            <a:off x="640080" y="5212080"/>
            <a:ext cx="5760720" cy="530352"/>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321808"/>
            <a:ext cx="5394960" cy="365760"/>
          </a:xfrm>
          <a:prstGeom prst="rect">
            <a:avLst/>
          </a:prstGeom>
          <a:noFill/>
        </p:spPr>
        <p:txBody>
          <a:bodyPr wrap="square">
            <a:spAutoFit/>
          </a:bodyPr>
          <a:lstStyle/>
          <a:p>
            <a:pPr algn="l"/>
            <a:r>
              <a:rPr sz="1600" b="1" i="0">
                <a:solidFill>
                  <a:srgbClr val="E8E8F0"/>
                </a:solidFill>
                <a:latin typeface="Calibri"/>
              </a:rPr>
              <a:t>D7 Failure contexts</a:t>
            </a:r>
          </a:p>
        </p:txBody>
      </p:sp>
      <p:sp>
        <p:nvSpPr>
          <p:cNvPr id="21" name="Rectangle 20"/>
          <p:cNvSpPr/>
          <p:nvPr/>
        </p:nvSpPr>
        <p:spPr>
          <a:xfrm>
            <a:off x="6675120" y="1645920"/>
            <a:ext cx="4846320" cy="429768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675120" y="1645920"/>
            <a:ext cx="73152" cy="429768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31152" y="1810512"/>
            <a:ext cx="4480560" cy="365760"/>
          </a:xfrm>
          <a:prstGeom prst="rect">
            <a:avLst/>
          </a:prstGeom>
          <a:noFill/>
        </p:spPr>
        <p:txBody>
          <a:bodyPr wrap="square">
            <a:spAutoFit/>
          </a:bodyPr>
          <a:lstStyle/>
          <a:p>
            <a:pPr algn="l"/>
            <a:r>
              <a:rPr sz="1400" b="1" i="0">
                <a:solidFill>
                  <a:srgbClr val="D4952A"/>
                </a:solidFill>
                <a:latin typeface="Calibri"/>
              </a:rPr>
              <a:t>CG-CoT ASKED FOR THIS</a:t>
            </a:r>
          </a:p>
        </p:txBody>
      </p:sp>
      <p:sp>
        <p:nvSpPr>
          <p:cNvPr id="24" name="TextBox 23"/>
          <p:cNvSpPr txBox="1"/>
          <p:nvPr/>
        </p:nvSpPr>
        <p:spPr>
          <a:xfrm>
            <a:off x="6931152" y="2176272"/>
            <a:ext cx="4434840" cy="3611880"/>
          </a:xfrm>
          <a:prstGeom prst="rect">
            <a:avLst/>
          </a:prstGeom>
          <a:noFill/>
        </p:spPr>
        <p:txBody>
          <a:bodyPr wrap="square">
            <a:spAutoFit/>
          </a:bodyPr>
          <a:lstStyle/>
          <a:p>
            <a:pPr algn="l"/>
            <a:r>
              <a:rPr sz="1300" b="0" i="0">
                <a:solidFill>
                  <a:srgbClr val="9A9AA8"/>
                </a:solidFill>
                <a:latin typeface="Calibri"/>
              </a:rPr>
              <a:t>June 2025 future work: structured cultural ontologies, retrieval at discourse positions, native speaker panels. PAL is that list, built. JSON-LD + FAISS. Community disagreement is encoded as variance, not error.</a:t>
            </a:r>
          </a:p>
        </p:txBody>
      </p:sp>
      <p:sp>
        <p:nvSpPr>
          <p:cNvPr id="25" name="Rectangle 24"/>
          <p:cNvSpPr/>
          <p:nvPr/>
        </p:nvSpPr>
        <p:spPr>
          <a:xfrm>
            <a:off x="0" y="6656832"/>
            <a:ext cx="12191695" cy="201168"/>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6656832"/>
            <a:ext cx="7315200" cy="201168"/>
          </a:xfrm>
          <a:prstGeom prst="rect">
            <a:avLst/>
          </a:prstGeom>
          <a:noFill/>
        </p:spPr>
        <p:txBody>
          <a:bodyPr wrap="square">
            <a:spAutoFit/>
          </a:bodyPr>
          <a:lstStyle/>
          <a:p>
            <a:pPr algn="l"/>
            <a:r>
              <a:rPr sz="900" b="1" i="0">
                <a:solidFill>
                  <a:srgbClr val="09090A"/>
                </a:solidFill>
                <a:latin typeface="Calibri"/>
              </a:rPr>
              <a:t>LOG_ON  ·  Lagos  ·  Direction infrastructure for African AI</a:t>
            </a:r>
          </a:p>
        </p:txBody>
      </p:sp>
      <p:sp>
        <p:nvSpPr>
          <p:cNvPr id="27" name="TextBox 26"/>
          <p:cNvSpPr txBox="1"/>
          <p:nvPr/>
        </p:nvSpPr>
        <p:spPr>
          <a:xfrm>
            <a:off x="10424160" y="6656832"/>
            <a:ext cx="1371600" cy="201168"/>
          </a:xfrm>
          <a:prstGeom prst="rect">
            <a:avLst/>
          </a:prstGeom>
          <a:noFill/>
        </p:spPr>
        <p:txBody>
          <a:bodyPr wrap="square">
            <a:spAutoFit/>
          </a:bodyPr>
          <a:lstStyle/>
          <a:p>
            <a:pPr algn="r"/>
            <a:r>
              <a:rPr sz="900" b="1" i="0">
                <a:solidFill>
                  <a:srgbClr val="09090A"/>
                </a:solidFill>
                <a:latin typeface="Calibri"/>
              </a:rPr>
              <a:t>14 / 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5486400" cy="274320"/>
          </a:xfrm>
          <a:prstGeom prst="rect">
            <a:avLst/>
          </a:prstGeom>
          <a:noFill/>
        </p:spPr>
        <p:txBody>
          <a:bodyPr wrap="square">
            <a:spAutoFit/>
          </a:bodyPr>
          <a:lstStyle/>
          <a:p>
            <a:pPr algn="l"/>
            <a:r>
              <a:rPr sz="1100" b="1" i="0">
                <a:solidFill>
                  <a:srgbClr val="D4952A"/>
                </a:solidFill>
                <a:latin typeface="Calibri"/>
              </a:rPr>
              <a:t>LOG_ON</a:t>
            </a:r>
          </a:p>
        </p:txBody>
      </p:sp>
      <p:sp>
        <p:nvSpPr>
          <p:cNvPr id="5" name="TextBox 4"/>
          <p:cNvSpPr txBox="1"/>
          <p:nvPr/>
        </p:nvSpPr>
        <p:spPr>
          <a:xfrm>
            <a:off x="5943600" y="201168"/>
            <a:ext cx="5760720" cy="274320"/>
          </a:xfrm>
          <a:prstGeom prst="rect">
            <a:avLst/>
          </a:prstGeom>
          <a:noFill/>
        </p:spPr>
        <p:txBody>
          <a:bodyPr wrap="square">
            <a:spAutoFit/>
          </a:bodyPr>
          <a:lstStyle/>
          <a:p>
            <a:pPr algn="r"/>
            <a:r>
              <a:rPr sz="1100" b="0" i="0">
                <a:solidFill>
                  <a:srgbClr val="5A5A65"/>
                </a:solidFill>
                <a:latin typeface="Calibri"/>
              </a:rPr>
              <a:t>CULTURAL BRIDGE TECH  ·  SAE LIMITATIONS</a:t>
            </a:r>
          </a:p>
        </p:txBody>
      </p:sp>
      <p:sp>
        <p:nvSpPr>
          <p:cNvPr id="6" name="TextBox 5"/>
          <p:cNvSpPr txBox="1"/>
          <p:nvPr/>
        </p:nvSpPr>
        <p:spPr>
          <a:xfrm>
            <a:off x="640080" y="960120"/>
            <a:ext cx="10972800" cy="640080"/>
          </a:xfrm>
          <a:prstGeom prst="rect">
            <a:avLst/>
          </a:prstGeom>
          <a:noFill/>
        </p:spPr>
        <p:txBody>
          <a:bodyPr wrap="square">
            <a:spAutoFit/>
          </a:bodyPr>
          <a:lstStyle/>
          <a:p>
            <a:pPr algn="l"/>
            <a:r>
              <a:rPr sz="2400" b="0" i="1">
                <a:solidFill>
                  <a:srgbClr val="F4F4F8"/>
                </a:solidFill>
                <a:latin typeface="Georgia"/>
              </a:rPr>
              <a:t>An SAE that scores zero does not mean no bias.
It means the conduit failed.</a:t>
            </a:r>
          </a:p>
        </p:txBody>
      </p:sp>
      <p:sp>
        <p:nvSpPr>
          <p:cNvPr id="7" name="Rectangle 6"/>
          <p:cNvSpPr/>
          <p:nvPr/>
        </p:nvSpPr>
        <p:spPr>
          <a:xfrm>
            <a:off x="640080" y="1965960"/>
            <a:ext cx="3566160" cy="192024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965960"/>
            <a:ext cx="73152" cy="192024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130552"/>
            <a:ext cx="3200400" cy="365760"/>
          </a:xfrm>
          <a:prstGeom prst="rect">
            <a:avLst/>
          </a:prstGeom>
          <a:noFill/>
        </p:spPr>
        <p:txBody>
          <a:bodyPr wrap="square">
            <a:spAutoFit/>
          </a:bodyPr>
          <a:lstStyle/>
          <a:p>
            <a:pPr algn="l"/>
            <a:r>
              <a:rPr sz="1400" b="1" i="0">
                <a:solidFill>
                  <a:srgbClr val="D4952A"/>
                </a:solidFill>
                <a:latin typeface="Calibri"/>
              </a:rPr>
              <a:t>Fix 1</a:t>
            </a:r>
          </a:p>
        </p:txBody>
      </p:sp>
      <p:sp>
        <p:nvSpPr>
          <p:cNvPr id="10" name="TextBox 9"/>
          <p:cNvSpPr txBox="1"/>
          <p:nvPr/>
        </p:nvSpPr>
        <p:spPr>
          <a:xfrm>
            <a:off x="896112" y="2496312"/>
            <a:ext cx="3154680" cy="1234440"/>
          </a:xfrm>
          <a:prstGeom prst="rect">
            <a:avLst/>
          </a:prstGeom>
          <a:noFill/>
        </p:spPr>
        <p:txBody>
          <a:bodyPr wrap="square">
            <a:spAutoFit/>
          </a:bodyPr>
          <a:lstStyle/>
          <a:p>
            <a:pPr algn="l"/>
            <a:r>
              <a:rPr sz="1300" b="0" i="0">
                <a:solidFill>
                  <a:srgbClr val="9A9AA8"/>
                </a:solidFill>
                <a:latin typeface="Calibri"/>
              </a:rPr>
              <a:t>JumpReLU + TopK ensemble. Kill dead latents and shrinkage.</a:t>
            </a:r>
          </a:p>
        </p:txBody>
      </p:sp>
      <p:sp>
        <p:nvSpPr>
          <p:cNvPr id="11" name="Rectangle 10"/>
          <p:cNvSpPr/>
          <p:nvPr/>
        </p:nvSpPr>
        <p:spPr>
          <a:xfrm>
            <a:off x="4389120" y="1965960"/>
            <a:ext cx="3566160" cy="192024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965960"/>
            <a:ext cx="73152" cy="192024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5152" y="2130552"/>
            <a:ext cx="3200400" cy="365760"/>
          </a:xfrm>
          <a:prstGeom prst="rect">
            <a:avLst/>
          </a:prstGeom>
          <a:noFill/>
        </p:spPr>
        <p:txBody>
          <a:bodyPr wrap="square">
            <a:spAutoFit/>
          </a:bodyPr>
          <a:lstStyle/>
          <a:p>
            <a:pPr algn="l"/>
            <a:r>
              <a:rPr sz="1400" b="1" i="0">
                <a:solidFill>
                  <a:srgbClr val="D4952A"/>
                </a:solidFill>
                <a:latin typeface="Calibri"/>
              </a:rPr>
              <a:t>Fix 2</a:t>
            </a:r>
          </a:p>
        </p:txBody>
      </p:sp>
      <p:sp>
        <p:nvSpPr>
          <p:cNvPr id="14" name="TextBox 13"/>
          <p:cNvSpPr txBox="1"/>
          <p:nvPr/>
        </p:nvSpPr>
        <p:spPr>
          <a:xfrm>
            <a:off x="4645152" y="2496312"/>
            <a:ext cx="3154680" cy="1234440"/>
          </a:xfrm>
          <a:prstGeom prst="rect">
            <a:avLst/>
          </a:prstGeom>
          <a:noFill/>
        </p:spPr>
        <p:txBody>
          <a:bodyPr wrap="square">
            <a:spAutoFit/>
          </a:bodyPr>
          <a:lstStyle/>
          <a:p>
            <a:pPr algn="l"/>
            <a:r>
              <a:rPr sz="1300" b="0" i="0">
                <a:solidFill>
                  <a:srgbClr val="9A9AA8"/>
                </a:solidFill>
                <a:latin typeface="Calibri"/>
              </a:rPr>
              <a:t>Fine-tune SAEs on Yoruba / Hausa / Igbo / Pidgin. Native training beats transfer.</a:t>
            </a:r>
          </a:p>
        </p:txBody>
      </p:sp>
      <p:sp>
        <p:nvSpPr>
          <p:cNvPr id="15" name="Rectangle 14"/>
          <p:cNvSpPr/>
          <p:nvPr/>
        </p:nvSpPr>
        <p:spPr>
          <a:xfrm>
            <a:off x="8138159" y="1965960"/>
            <a:ext cx="3566160" cy="192024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59" y="1965960"/>
            <a:ext cx="73152" cy="192024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4191" y="2130552"/>
            <a:ext cx="3200400" cy="365760"/>
          </a:xfrm>
          <a:prstGeom prst="rect">
            <a:avLst/>
          </a:prstGeom>
          <a:noFill/>
        </p:spPr>
        <p:txBody>
          <a:bodyPr wrap="square">
            <a:spAutoFit/>
          </a:bodyPr>
          <a:lstStyle/>
          <a:p>
            <a:pPr algn="l"/>
            <a:r>
              <a:rPr sz="1400" b="1" i="0">
                <a:solidFill>
                  <a:srgbClr val="D4952A"/>
                </a:solidFill>
                <a:latin typeface="Calibri"/>
              </a:rPr>
              <a:t>Fix 3</a:t>
            </a:r>
          </a:p>
        </p:txBody>
      </p:sp>
      <p:sp>
        <p:nvSpPr>
          <p:cNvPr id="18" name="TextBox 17"/>
          <p:cNvSpPr txBox="1"/>
          <p:nvPr/>
        </p:nvSpPr>
        <p:spPr>
          <a:xfrm>
            <a:off x="8394191" y="2496312"/>
            <a:ext cx="3154680" cy="1234440"/>
          </a:xfrm>
          <a:prstGeom prst="rect">
            <a:avLst/>
          </a:prstGeom>
          <a:noFill/>
        </p:spPr>
        <p:txBody>
          <a:bodyPr wrap="square">
            <a:spAutoFit/>
          </a:bodyPr>
          <a:lstStyle/>
          <a:p>
            <a:pPr algn="l"/>
            <a:r>
              <a:rPr sz="1300" b="0" i="0">
                <a:solidFill>
                  <a:srgbClr val="9A9AA8"/>
                </a:solidFill>
                <a:latin typeface="Calibri"/>
              </a:rPr>
              <a:t>Hybrid scoring: SAE + probes + counterfactual deltas.</a:t>
            </a:r>
          </a:p>
        </p:txBody>
      </p:sp>
      <p:sp>
        <p:nvSpPr>
          <p:cNvPr id="19" name="Rectangle 18"/>
          <p:cNvSpPr/>
          <p:nvPr/>
        </p:nvSpPr>
        <p:spPr>
          <a:xfrm>
            <a:off x="640080" y="4023360"/>
            <a:ext cx="3566160" cy="192024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4023360"/>
            <a:ext cx="73152" cy="192024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187952"/>
            <a:ext cx="3200400" cy="365760"/>
          </a:xfrm>
          <a:prstGeom prst="rect">
            <a:avLst/>
          </a:prstGeom>
          <a:noFill/>
        </p:spPr>
        <p:txBody>
          <a:bodyPr wrap="square">
            <a:spAutoFit/>
          </a:bodyPr>
          <a:lstStyle/>
          <a:p>
            <a:pPr algn="l"/>
            <a:r>
              <a:rPr sz="1400" b="1" i="0">
                <a:solidFill>
                  <a:srgbClr val="D4952A"/>
                </a:solidFill>
                <a:latin typeface="Calibri"/>
              </a:rPr>
              <a:t>Fix 4</a:t>
            </a:r>
          </a:p>
        </p:txBody>
      </p:sp>
      <p:sp>
        <p:nvSpPr>
          <p:cNvPr id="22" name="TextBox 21"/>
          <p:cNvSpPr txBox="1"/>
          <p:nvPr/>
        </p:nvSpPr>
        <p:spPr>
          <a:xfrm>
            <a:off x="896112" y="4553712"/>
            <a:ext cx="3154680" cy="1234440"/>
          </a:xfrm>
          <a:prstGeom prst="rect">
            <a:avLst/>
          </a:prstGeom>
          <a:noFill/>
        </p:spPr>
        <p:txBody>
          <a:bodyPr wrap="square">
            <a:spAutoFit/>
          </a:bodyPr>
          <a:lstStyle/>
          <a:p>
            <a:pPr algn="l"/>
            <a:r>
              <a:rPr sz="1300" b="0" i="0">
                <a:solidFill>
                  <a:srgbClr val="9A9AA8"/>
                </a:solidFill>
                <a:latin typeface="Calibri"/>
              </a:rPr>
              <a:t>Error probe on reconstruction residual — recover the dark matter.</a:t>
            </a:r>
          </a:p>
        </p:txBody>
      </p:sp>
      <p:sp>
        <p:nvSpPr>
          <p:cNvPr id="23" name="Rectangle 22"/>
          <p:cNvSpPr/>
          <p:nvPr/>
        </p:nvSpPr>
        <p:spPr>
          <a:xfrm>
            <a:off x="4389120" y="4023360"/>
            <a:ext cx="3566160" cy="192024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89120" y="4023360"/>
            <a:ext cx="73152" cy="192024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5152" y="4187952"/>
            <a:ext cx="3200400" cy="365760"/>
          </a:xfrm>
          <a:prstGeom prst="rect">
            <a:avLst/>
          </a:prstGeom>
          <a:noFill/>
        </p:spPr>
        <p:txBody>
          <a:bodyPr wrap="square">
            <a:spAutoFit/>
          </a:bodyPr>
          <a:lstStyle/>
          <a:p>
            <a:pPr algn="l"/>
            <a:r>
              <a:rPr sz="1400" b="1" i="0">
                <a:solidFill>
                  <a:srgbClr val="D4952A"/>
                </a:solidFill>
                <a:latin typeface="Calibri"/>
              </a:rPr>
              <a:t>Fix 5</a:t>
            </a:r>
          </a:p>
        </p:txBody>
      </p:sp>
      <p:sp>
        <p:nvSpPr>
          <p:cNvPr id="26" name="TextBox 25"/>
          <p:cNvSpPr txBox="1"/>
          <p:nvPr/>
        </p:nvSpPr>
        <p:spPr>
          <a:xfrm>
            <a:off x="4645152" y="4553712"/>
            <a:ext cx="3154680" cy="1234440"/>
          </a:xfrm>
          <a:prstGeom prst="rect">
            <a:avLst/>
          </a:prstGeom>
          <a:noFill/>
        </p:spPr>
        <p:txBody>
          <a:bodyPr wrap="square">
            <a:spAutoFit/>
          </a:bodyPr>
          <a:lstStyle/>
          <a:p>
            <a:pPr algn="l"/>
            <a:r>
              <a:rPr sz="1300" b="0" i="0">
                <a:solidFill>
                  <a:srgbClr val="9A9AA8"/>
                </a:solidFill>
                <a:latin typeface="Calibri"/>
              </a:rPr>
              <a:t>Adversarial variants: translation, code-switch, cultural rephrase.</a:t>
            </a:r>
          </a:p>
        </p:txBody>
      </p:sp>
      <p:sp>
        <p:nvSpPr>
          <p:cNvPr id="27" name="Rectangle 26"/>
          <p:cNvSpPr/>
          <p:nvPr/>
        </p:nvSpPr>
        <p:spPr>
          <a:xfrm>
            <a:off x="8138159" y="4023360"/>
            <a:ext cx="3566160" cy="192024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38159" y="4023360"/>
            <a:ext cx="73152" cy="192024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94191" y="4187952"/>
            <a:ext cx="3200400" cy="365760"/>
          </a:xfrm>
          <a:prstGeom prst="rect">
            <a:avLst/>
          </a:prstGeom>
          <a:noFill/>
        </p:spPr>
        <p:txBody>
          <a:bodyPr wrap="square">
            <a:spAutoFit/>
          </a:bodyPr>
          <a:lstStyle/>
          <a:p>
            <a:pPr algn="l"/>
            <a:r>
              <a:rPr sz="1400" b="1" i="0">
                <a:solidFill>
                  <a:srgbClr val="D4952A"/>
                </a:solidFill>
                <a:latin typeface="Calibri"/>
              </a:rPr>
              <a:t>Fix 6</a:t>
            </a:r>
          </a:p>
        </p:txBody>
      </p:sp>
      <p:sp>
        <p:nvSpPr>
          <p:cNvPr id="30" name="TextBox 29"/>
          <p:cNvSpPr txBox="1"/>
          <p:nvPr/>
        </p:nvSpPr>
        <p:spPr>
          <a:xfrm>
            <a:off x="8394191" y="4553712"/>
            <a:ext cx="3154680" cy="1234440"/>
          </a:xfrm>
          <a:prstGeom prst="rect">
            <a:avLst/>
          </a:prstGeom>
          <a:noFill/>
        </p:spPr>
        <p:txBody>
          <a:bodyPr wrap="square">
            <a:spAutoFit/>
          </a:bodyPr>
          <a:lstStyle/>
          <a:p>
            <a:pPr algn="l"/>
            <a:r>
              <a:rPr sz="1300" b="0" i="0">
                <a:solidFill>
                  <a:srgbClr val="9A9AA8"/>
                </a:solidFill>
                <a:latin typeface="Calibri"/>
              </a:rPr>
              <a:t>Multi-layer circuit tracing with Gemma Scope 2.</a:t>
            </a:r>
          </a:p>
        </p:txBody>
      </p:sp>
      <p:sp>
        <p:nvSpPr>
          <p:cNvPr id="31" name="Rectangle 30"/>
          <p:cNvSpPr/>
          <p:nvPr/>
        </p:nvSpPr>
        <p:spPr>
          <a:xfrm>
            <a:off x="0" y="6656832"/>
            <a:ext cx="12191695" cy="201168"/>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6656832"/>
            <a:ext cx="7315200" cy="201168"/>
          </a:xfrm>
          <a:prstGeom prst="rect">
            <a:avLst/>
          </a:prstGeom>
          <a:noFill/>
        </p:spPr>
        <p:txBody>
          <a:bodyPr wrap="square">
            <a:spAutoFit/>
          </a:bodyPr>
          <a:lstStyle/>
          <a:p>
            <a:pPr algn="l"/>
            <a:r>
              <a:rPr sz="900" b="1" i="0">
                <a:solidFill>
                  <a:srgbClr val="09090A"/>
                </a:solidFill>
                <a:latin typeface="Calibri"/>
              </a:rPr>
              <a:t>LOG_ON  ·  Lagos  ·  Direction infrastructure for African AI</a:t>
            </a:r>
          </a:p>
        </p:txBody>
      </p:sp>
      <p:sp>
        <p:nvSpPr>
          <p:cNvPr id="33" name="TextBox 32"/>
          <p:cNvSpPr txBox="1"/>
          <p:nvPr/>
        </p:nvSpPr>
        <p:spPr>
          <a:xfrm>
            <a:off x="10424160" y="6656832"/>
            <a:ext cx="1371600" cy="201168"/>
          </a:xfrm>
          <a:prstGeom prst="rect">
            <a:avLst/>
          </a:prstGeom>
          <a:noFill/>
        </p:spPr>
        <p:txBody>
          <a:bodyPr wrap="square">
            <a:spAutoFit/>
          </a:bodyPr>
          <a:lstStyle/>
          <a:p>
            <a:pPr algn="r"/>
            <a:r>
              <a:rPr sz="900" b="1" i="0">
                <a:solidFill>
                  <a:srgbClr val="09090A"/>
                </a:solidFill>
                <a:latin typeface="Calibri"/>
              </a:rPr>
              <a:t>15 /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5486400" cy="274320"/>
          </a:xfrm>
          <a:prstGeom prst="rect">
            <a:avLst/>
          </a:prstGeom>
          <a:noFill/>
        </p:spPr>
        <p:txBody>
          <a:bodyPr wrap="square">
            <a:spAutoFit/>
          </a:bodyPr>
          <a:lstStyle/>
          <a:p>
            <a:pPr algn="l"/>
            <a:r>
              <a:rPr sz="1100" b="1" i="0">
                <a:solidFill>
                  <a:srgbClr val="D4952A"/>
                </a:solidFill>
                <a:latin typeface="Calibri"/>
              </a:rPr>
              <a:t>LOG_ON</a:t>
            </a:r>
          </a:p>
        </p:txBody>
      </p:sp>
      <p:sp>
        <p:nvSpPr>
          <p:cNvPr id="5" name="TextBox 4"/>
          <p:cNvSpPr txBox="1"/>
          <p:nvPr/>
        </p:nvSpPr>
        <p:spPr>
          <a:xfrm>
            <a:off x="5943600" y="201168"/>
            <a:ext cx="5760720" cy="274320"/>
          </a:xfrm>
          <a:prstGeom prst="rect">
            <a:avLst/>
          </a:prstGeom>
          <a:noFill/>
        </p:spPr>
        <p:txBody>
          <a:bodyPr wrap="square">
            <a:spAutoFit/>
          </a:bodyPr>
          <a:lstStyle/>
          <a:p>
            <a:pPr algn="r"/>
            <a:r>
              <a:rPr sz="1100" b="0" i="0">
                <a:solidFill>
                  <a:srgbClr val="5A5A65"/>
                </a:solidFill>
                <a:latin typeface="Calibri"/>
              </a:rPr>
              <a:t>SCHMIDT SCIENCES 2026  ·  $947,343  ·  24 MONTHS</a:t>
            </a:r>
          </a:p>
        </p:txBody>
      </p:sp>
      <p:sp>
        <p:nvSpPr>
          <p:cNvPr id="6" name="TextBox 5"/>
          <p:cNvSpPr txBox="1"/>
          <p:nvPr/>
        </p:nvSpPr>
        <p:spPr>
          <a:xfrm>
            <a:off x="640080" y="960120"/>
            <a:ext cx="10972800" cy="640080"/>
          </a:xfrm>
          <a:prstGeom prst="rect">
            <a:avLst/>
          </a:prstGeom>
          <a:noFill/>
        </p:spPr>
        <p:txBody>
          <a:bodyPr wrap="square">
            <a:spAutoFit/>
          </a:bodyPr>
          <a:lstStyle/>
          <a:p>
            <a:pPr algn="l"/>
            <a:r>
              <a:rPr sz="2800" b="1" i="0">
                <a:solidFill>
                  <a:srgbClr val="F4F4F8"/>
                </a:solidFill>
                <a:latin typeface="Georgia"/>
              </a:rPr>
              <a:t>Detecting deception where it hides</a:t>
            </a:r>
          </a:p>
        </p:txBody>
      </p:sp>
      <p:sp>
        <p:nvSpPr>
          <p:cNvPr id="7" name="TextBox 6"/>
          <p:cNvSpPr txBox="1"/>
          <p:nvPr/>
        </p:nvSpPr>
        <p:spPr>
          <a:xfrm>
            <a:off x="640080" y="1645920"/>
            <a:ext cx="10972800" cy="1097280"/>
          </a:xfrm>
          <a:prstGeom prst="rect">
            <a:avLst/>
          </a:prstGeom>
          <a:noFill/>
        </p:spPr>
        <p:txBody>
          <a:bodyPr wrap="square">
            <a:spAutoFit/>
          </a:bodyPr>
          <a:lstStyle/>
          <a:p>
            <a:pPr algn="l"/>
            <a:r>
              <a:rPr sz="1600" b="0" i="0">
                <a:solidFill>
                  <a:srgbClr val="9A9AA8"/>
                </a:solidFill>
                <a:latin typeface="Calibri"/>
              </a:rPr>
              <a:t>LLMs map African-language queries to English in the bottom layers, reason in English in the middle, and translate back at the top. Current probes read the output. The deception lives in the middle.</a:t>
            </a:r>
          </a:p>
        </p:txBody>
      </p:sp>
      <p:sp>
        <p:nvSpPr>
          <p:cNvPr id="8" name="Rectangle 7"/>
          <p:cNvSpPr/>
          <p:nvPr/>
        </p:nvSpPr>
        <p:spPr>
          <a:xfrm>
            <a:off x="640080" y="2926080"/>
            <a:ext cx="3566160" cy="301752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926080"/>
            <a:ext cx="73152" cy="301752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3090672"/>
            <a:ext cx="3200400" cy="365760"/>
          </a:xfrm>
          <a:prstGeom prst="rect">
            <a:avLst/>
          </a:prstGeom>
          <a:noFill/>
        </p:spPr>
        <p:txBody>
          <a:bodyPr wrap="square">
            <a:spAutoFit/>
          </a:bodyPr>
          <a:lstStyle/>
          <a:p>
            <a:pPr algn="l"/>
            <a:r>
              <a:rPr sz="1400" b="1" i="0">
                <a:solidFill>
                  <a:srgbClr val="D4952A"/>
                </a:solidFill>
                <a:latin typeface="Calibri"/>
              </a:rPr>
              <a:t>D6  CAPABILITY</a:t>
            </a:r>
          </a:p>
        </p:txBody>
      </p:sp>
      <p:sp>
        <p:nvSpPr>
          <p:cNvPr id="11" name="TextBox 10"/>
          <p:cNvSpPr txBox="1"/>
          <p:nvPr/>
        </p:nvSpPr>
        <p:spPr>
          <a:xfrm>
            <a:off x="896112" y="3456432"/>
            <a:ext cx="3154680" cy="2331720"/>
          </a:xfrm>
          <a:prstGeom prst="rect">
            <a:avLst/>
          </a:prstGeom>
          <a:noFill/>
        </p:spPr>
        <p:txBody>
          <a:bodyPr wrap="square">
            <a:spAutoFit/>
          </a:bodyPr>
          <a:lstStyle/>
          <a:p>
            <a:pPr algn="l"/>
            <a:r>
              <a:rPr sz="1300" b="0" i="0">
                <a:solidFill>
                  <a:srgbClr val="9A9AA8"/>
                </a:solidFill>
                <a:latin typeface="Calibri"/>
              </a:rPr>
              <a:t>Language-specific neurons show weakness. Output is confident. Whitebox reads the contradiction. Blackbox cannot.</a:t>
            </a:r>
          </a:p>
        </p:txBody>
      </p:sp>
      <p:sp>
        <p:nvSpPr>
          <p:cNvPr id="12" name="Rectangle 11"/>
          <p:cNvSpPr/>
          <p:nvPr/>
        </p:nvSpPr>
        <p:spPr>
          <a:xfrm>
            <a:off x="4343400" y="2926080"/>
            <a:ext cx="3566160" cy="301752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2926080"/>
            <a:ext cx="73152" cy="301752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9432" y="3090672"/>
            <a:ext cx="3200400" cy="365760"/>
          </a:xfrm>
          <a:prstGeom prst="rect">
            <a:avLst/>
          </a:prstGeom>
          <a:noFill/>
        </p:spPr>
        <p:txBody>
          <a:bodyPr wrap="square">
            <a:spAutoFit/>
          </a:bodyPr>
          <a:lstStyle/>
          <a:p>
            <a:pPr algn="l"/>
            <a:r>
              <a:rPr sz="1400" b="1" i="0">
                <a:solidFill>
                  <a:srgbClr val="D4952A"/>
                </a:solidFill>
                <a:latin typeface="Calibri"/>
              </a:rPr>
              <a:t>D3  CONTEXT</a:t>
            </a:r>
          </a:p>
        </p:txBody>
      </p:sp>
      <p:sp>
        <p:nvSpPr>
          <p:cNvPr id="15" name="TextBox 14"/>
          <p:cNvSpPr txBox="1"/>
          <p:nvPr/>
        </p:nvSpPr>
        <p:spPr>
          <a:xfrm>
            <a:off x="4599432" y="3456432"/>
            <a:ext cx="3154680" cy="2331720"/>
          </a:xfrm>
          <a:prstGeom prst="rect">
            <a:avLst/>
          </a:prstGeom>
          <a:noFill/>
        </p:spPr>
        <p:txBody>
          <a:bodyPr wrap="square">
            <a:spAutoFit/>
          </a:bodyPr>
          <a:lstStyle/>
          <a:p>
            <a:pPr algn="l"/>
            <a:r>
              <a:rPr sz="1300" b="0" i="0">
                <a:solidFill>
                  <a:srgbClr val="9A9AA8"/>
                </a:solidFill>
                <a:latin typeface="Calibri"/>
              </a:rPr>
              <a:t>Middle layers generate English tokens for a Yoruba query. The user believes the interaction is in Yoruba. It is not.</a:t>
            </a:r>
          </a:p>
        </p:txBody>
      </p:sp>
      <p:sp>
        <p:nvSpPr>
          <p:cNvPr id="16" name="Rectangle 15"/>
          <p:cNvSpPr/>
          <p:nvPr/>
        </p:nvSpPr>
        <p:spPr>
          <a:xfrm>
            <a:off x="8046720" y="2926080"/>
            <a:ext cx="3474720" cy="301752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2926080"/>
            <a:ext cx="73152" cy="301752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3090672"/>
            <a:ext cx="3108960" cy="365760"/>
          </a:xfrm>
          <a:prstGeom prst="rect">
            <a:avLst/>
          </a:prstGeom>
          <a:noFill/>
        </p:spPr>
        <p:txBody>
          <a:bodyPr wrap="square">
            <a:spAutoFit/>
          </a:bodyPr>
          <a:lstStyle/>
          <a:p>
            <a:pPr algn="l"/>
            <a:r>
              <a:rPr sz="1400" b="1" i="0">
                <a:solidFill>
                  <a:srgbClr val="D4952A"/>
                </a:solidFill>
                <a:latin typeface="Calibri"/>
              </a:rPr>
              <a:t>WP4  LAGOS</a:t>
            </a:r>
          </a:p>
        </p:txBody>
      </p:sp>
      <p:sp>
        <p:nvSpPr>
          <p:cNvPr id="19" name="TextBox 18"/>
          <p:cNvSpPr txBox="1"/>
          <p:nvPr/>
        </p:nvSpPr>
        <p:spPr>
          <a:xfrm>
            <a:off x="8302752" y="3456432"/>
            <a:ext cx="3063240" cy="2331720"/>
          </a:xfrm>
          <a:prstGeom prst="rect">
            <a:avLst/>
          </a:prstGeom>
          <a:noFill/>
        </p:spPr>
        <p:txBody>
          <a:bodyPr wrap="square">
            <a:spAutoFit/>
          </a:bodyPr>
          <a:lstStyle/>
          <a:p>
            <a:pPr algn="l"/>
            <a:r>
              <a:rPr sz="1300" b="0" i="0">
                <a:solidFill>
                  <a:srgbClr val="9A9AA8"/>
                </a:solidFill>
                <a:latin typeface="Calibri"/>
              </a:rPr>
              <a:t>40 SME operators. Steering as deception reduction, not “human-AI collaboration” — the scope trap the compliance audit closed.</a:t>
            </a:r>
          </a:p>
        </p:txBody>
      </p:sp>
      <p:sp>
        <p:nvSpPr>
          <p:cNvPr id="20" name="Rectangle 19"/>
          <p:cNvSpPr/>
          <p:nvPr/>
        </p:nvSpPr>
        <p:spPr>
          <a:xfrm>
            <a:off x="0" y="6656832"/>
            <a:ext cx="12191695" cy="201168"/>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656832"/>
            <a:ext cx="7315200" cy="201168"/>
          </a:xfrm>
          <a:prstGeom prst="rect">
            <a:avLst/>
          </a:prstGeom>
          <a:noFill/>
        </p:spPr>
        <p:txBody>
          <a:bodyPr wrap="square">
            <a:spAutoFit/>
          </a:bodyPr>
          <a:lstStyle/>
          <a:p>
            <a:pPr algn="l"/>
            <a:r>
              <a:rPr sz="900" b="1" i="0">
                <a:solidFill>
                  <a:srgbClr val="09090A"/>
                </a:solidFill>
                <a:latin typeface="Calibri"/>
              </a:rPr>
              <a:t>LOG_ON  ·  Lagos  ·  Direction infrastructure for African AI</a:t>
            </a:r>
          </a:p>
        </p:txBody>
      </p:sp>
      <p:sp>
        <p:nvSpPr>
          <p:cNvPr id="22" name="TextBox 21"/>
          <p:cNvSpPr txBox="1"/>
          <p:nvPr/>
        </p:nvSpPr>
        <p:spPr>
          <a:xfrm>
            <a:off x="10424160" y="6656832"/>
            <a:ext cx="1371600" cy="201168"/>
          </a:xfrm>
          <a:prstGeom prst="rect">
            <a:avLst/>
          </a:prstGeom>
          <a:noFill/>
        </p:spPr>
        <p:txBody>
          <a:bodyPr wrap="square">
            <a:spAutoFit/>
          </a:bodyPr>
          <a:lstStyle/>
          <a:p>
            <a:pPr algn="r"/>
            <a:r>
              <a:rPr sz="900" b="1" i="0">
                <a:solidFill>
                  <a:srgbClr val="09090A"/>
                </a:solidFill>
                <a:latin typeface="Calibri"/>
              </a:rPr>
              <a:t>16 / 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5486400" cy="274320"/>
          </a:xfrm>
          <a:prstGeom prst="rect">
            <a:avLst/>
          </a:prstGeom>
          <a:noFill/>
        </p:spPr>
        <p:txBody>
          <a:bodyPr wrap="square">
            <a:spAutoFit/>
          </a:bodyPr>
          <a:lstStyle/>
          <a:p>
            <a:pPr algn="l"/>
            <a:r>
              <a:rPr sz="1100" b="1" i="0">
                <a:solidFill>
                  <a:srgbClr val="D4952A"/>
                </a:solidFill>
                <a:latin typeface="Calibri"/>
              </a:rPr>
              <a:t>LOG_ON</a:t>
            </a:r>
          </a:p>
        </p:txBody>
      </p:sp>
      <p:sp>
        <p:nvSpPr>
          <p:cNvPr id="5" name="TextBox 4"/>
          <p:cNvSpPr txBox="1"/>
          <p:nvPr/>
        </p:nvSpPr>
        <p:spPr>
          <a:xfrm>
            <a:off x="5943600" y="201168"/>
            <a:ext cx="5760720" cy="274320"/>
          </a:xfrm>
          <a:prstGeom prst="rect">
            <a:avLst/>
          </a:prstGeom>
          <a:noFill/>
        </p:spPr>
        <p:txBody>
          <a:bodyPr wrap="square">
            <a:spAutoFit/>
          </a:bodyPr>
          <a:lstStyle/>
          <a:p>
            <a:pPr algn="r"/>
            <a:r>
              <a:rPr sz="1100" b="0" i="0">
                <a:solidFill>
                  <a:srgbClr val="5A5A65"/>
                </a:solidFill>
                <a:latin typeface="Calibri"/>
              </a:rPr>
              <a:t>PRODUCT  ·  MIT LICENCE</a:t>
            </a:r>
          </a:p>
        </p:txBody>
      </p:sp>
      <p:sp>
        <p:nvSpPr>
          <p:cNvPr id="6" name="TextBox 5"/>
          <p:cNvSpPr txBox="1"/>
          <p:nvPr/>
        </p:nvSpPr>
        <p:spPr>
          <a:xfrm>
            <a:off x="640080" y="960120"/>
            <a:ext cx="10972800" cy="502920"/>
          </a:xfrm>
          <a:prstGeom prst="rect">
            <a:avLst/>
          </a:prstGeom>
          <a:noFill/>
        </p:spPr>
        <p:txBody>
          <a:bodyPr wrap="square">
            <a:spAutoFit/>
          </a:bodyPr>
          <a:lstStyle/>
          <a:p>
            <a:pPr algn="l"/>
            <a:r>
              <a:rPr sz="2800" b="1" i="0">
                <a:solidFill>
                  <a:srgbClr val="F4F4F8"/>
                </a:solidFill>
                <a:latin typeface="Georgia"/>
              </a:rPr>
              <a:t>AgentBase + AgentBridge Africa</a:t>
            </a:r>
          </a:p>
        </p:txBody>
      </p:sp>
      <p:sp>
        <p:nvSpPr>
          <p:cNvPr id="7" name="Rectangle 6"/>
          <p:cNvSpPr/>
          <p:nvPr/>
        </p:nvSpPr>
        <p:spPr>
          <a:xfrm>
            <a:off x="640080" y="1691640"/>
            <a:ext cx="5486400" cy="420624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91640"/>
            <a:ext cx="73152" cy="420624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56232"/>
            <a:ext cx="5120640" cy="365760"/>
          </a:xfrm>
          <a:prstGeom prst="rect">
            <a:avLst/>
          </a:prstGeom>
          <a:noFill/>
        </p:spPr>
        <p:txBody>
          <a:bodyPr wrap="square">
            <a:spAutoFit/>
          </a:bodyPr>
          <a:lstStyle/>
          <a:p>
            <a:pPr algn="l"/>
            <a:r>
              <a:rPr sz="1400" b="1" i="0">
                <a:solidFill>
                  <a:srgbClr val="D4952A"/>
                </a:solidFill>
                <a:latin typeface="Calibri"/>
              </a:rPr>
              <a:t>AGENTBASE</a:t>
            </a:r>
          </a:p>
        </p:txBody>
      </p:sp>
      <p:sp>
        <p:nvSpPr>
          <p:cNvPr id="10" name="TextBox 9"/>
          <p:cNvSpPr txBox="1"/>
          <p:nvPr/>
        </p:nvSpPr>
        <p:spPr>
          <a:xfrm>
            <a:off x="896112" y="2221992"/>
            <a:ext cx="5074920" cy="3520440"/>
          </a:xfrm>
          <a:prstGeom prst="rect">
            <a:avLst/>
          </a:prstGeom>
          <a:noFill/>
        </p:spPr>
        <p:txBody>
          <a:bodyPr wrap="square">
            <a:spAutoFit/>
          </a:bodyPr>
          <a:lstStyle/>
          <a:p>
            <a:pPr algn="l"/>
            <a:r>
              <a:rPr sz="1300" b="0" i="0">
                <a:solidFill>
                  <a:srgbClr val="9A9AA8"/>
                </a:solidFill>
                <a:latin typeface="Calibri"/>
              </a:rPr>
              <a:t>Lightweight multi-agent orchestration. No framework lock-in. Explicit over magic. Production-first retries and checkpoints. Zero GPU. $6/month VPS. Running HouseHunter, GigPilot, Job Application Command Centre, four client pipelines.</a:t>
            </a:r>
          </a:p>
        </p:txBody>
      </p:sp>
      <p:sp>
        <p:nvSpPr>
          <p:cNvPr id="11" name="Rectangle 10"/>
          <p:cNvSpPr/>
          <p:nvPr/>
        </p:nvSpPr>
        <p:spPr>
          <a:xfrm>
            <a:off x="6355080" y="1691640"/>
            <a:ext cx="5212080" cy="420624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691640"/>
            <a:ext cx="73152" cy="420624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11112" y="1856232"/>
            <a:ext cx="4846320" cy="365760"/>
          </a:xfrm>
          <a:prstGeom prst="rect">
            <a:avLst/>
          </a:prstGeom>
          <a:noFill/>
        </p:spPr>
        <p:txBody>
          <a:bodyPr wrap="square">
            <a:spAutoFit/>
          </a:bodyPr>
          <a:lstStyle/>
          <a:p>
            <a:pPr algn="l"/>
            <a:r>
              <a:rPr sz="1400" b="1" i="0">
                <a:solidFill>
                  <a:srgbClr val="D4952A"/>
                </a:solidFill>
                <a:latin typeface="Calibri"/>
              </a:rPr>
              <a:t>AGENTBRIDGE AFRICA</a:t>
            </a:r>
          </a:p>
        </p:txBody>
      </p:sp>
      <p:sp>
        <p:nvSpPr>
          <p:cNvPr id="14" name="TextBox 13"/>
          <p:cNvSpPr txBox="1"/>
          <p:nvPr/>
        </p:nvSpPr>
        <p:spPr>
          <a:xfrm>
            <a:off x="6611112" y="2221992"/>
            <a:ext cx="4800600" cy="3520440"/>
          </a:xfrm>
          <a:prstGeom prst="rect">
            <a:avLst/>
          </a:prstGeom>
          <a:noFill/>
        </p:spPr>
        <p:txBody>
          <a:bodyPr wrap="square">
            <a:spAutoFit/>
          </a:bodyPr>
          <a:lstStyle/>
          <a:p>
            <a:pPr algn="l"/>
            <a:r>
              <a:rPr sz="1300" b="0" i="0">
                <a:solidFill>
                  <a:srgbClr val="9A9AA8"/>
                </a:solidFill>
                <a:latin typeface="Calibri"/>
              </a:rPr>
              <a:t>WhatsApp-first. Yoruba / Pidgin / Igbo config. CRDT offline. Paystack / Flutterwave / Opay. Circle USDC nanopayments for template authors. Pilot: 500 Lagos businesses. Phase 4 of the 30-month research architecture — DRL toggles oral-tradition format.</a:t>
            </a:r>
          </a:p>
        </p:txBody>
      </p:sp>
      <p:sp>
        <p:nvSpPr>
          <p:cNvPr id="15" name="Rectangle 14"/>
          <p:cNvSpPr/>
          <p:nvPr/>
        </p:nvSpPr>
        <p:spPr>
          <a:xfrm>
            <a:off x="0" y="6656832"/>
            <a:ext cx="12191695" cy="201168"/>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656832"/>
            <a:ext cx="7315200" cy="201168"/>
          </a:xfrm>
          <a:prstGeom prst="rect">
            <a:avLst/>
          </a:prstGeom>
          <a:noFill/>
        </p:spPr>
        <p:txBody>
          <a:bodyPr wrap="square">
            <a:spAutoFit/>
          </a:bodyPr>
          <a:lstStyle/>
          <a:p>
            <a:pPr algn="l"/>
            <a:r>
              <a:rPr sz="900" b="1" i="0">
                <a:solidFill>
                  <a:srgbClr val="09090A"/>
                </a:solidFill>
                <a:latin typeface="Calibri"/>
              </a:rPr>
              <a:t>LOG_ON  ·  Lagos  ·  Direction infrastructure for African AI</a:t>
            </a:r>
          </a:p>
        </p:txBody>
      </p:sp>
      <p:sp>
        <p:nvSpPr>
          <p:cNvPr id="17" name="TextBox 16"/>
          <p:cNvSpPr txBox="1"/>
          <p:nvPr/>
        </p:nvSpPr>
        <p:spPr>
          <a:xfrm>
            <a:off x="10424160" y="6656832"/>
            <a:ext cx="1371600" cy="201168"/>
          </a:xfrm>
          <a:prstGeom prst="rect">
            <a:avLst/>
          </a:prstGeom>
          <a:noFill/>
        </p:spPr>
        <p:txBody>
          <a:bodyPr wrap="square">
            <a:spAutoFit/>
          </a:bodyPr>
          <a:lstStyle/>
          <a:p>
            <a:pPr algn="r"/>
            <a:r>
              <a:rPr sz="900" b="1" i="0">
                <a:solidFill>
                  <a:srgbClr val="09090A"/>
                </a:solidFill>
                <a:latin typeface="Calibri"/>
              </a:rPr>
              <a:t>17 / 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5486400" cy="274320"/>
          </a:xfrm>
          <a:prstGeom prst="rect">
            <a:avLst/>
          </a:prstGeom>
          <a:noFill/>
        </p:spPr>
        <p:txBody>
          <a:bodyPr wrap="square">
            <a:spAutoFit/>
          </a:bodyPr>
          <a:lstStyle/>
          <a:p>
            <a:pPr algn="l"/>
            <a:r>
              <a:rPr sz="1100" b="1" i="0">
                <a:solidFill>
                  <a:srgbClr val="D4952A"/>
                </a:solidFill>
                <a:latin typeface="Calibri"/>
              </a:rPr>
              <a:t>LOG_ON</a:t>
            </a:r>
          </a:p>
        </p:txBody>
      </p:sp>
      <p:sp>
        <p:nvSpPr>
          <p:cNvPr id="5" name="TextBox 4"/>
          <p:cNvSpPr txBox="1"/>
          <p:nvPr/>
        </p:nvSpPr>
        <p:spPr>
          <a:xfrm>
            <a:off x="5943600" y="201168"/>
            <a:ext cx="5760720" cy="274320"/>
          </a:xfrm>
          <a:prstGeom prst="rect">
            <a:avLst/>
          </a:prstGeom>
          <a:noFill/>
        </p:spPr>
        <p:txBody>
          <a:bodyPr wrap="square">
            <a:spAutoFit/>
          </a:bodyPr>
          <a:lstStyle/>
          <a:p>
            <a:pPr algn="r"/>
            <a:r>
              <a:rPr sz="1100" b="0" i="0">
                <a:solidFill>
                  <a:srgbClr val="5A5A65"/>
                </a:solidFill>
                <a:latin typeface="Calibri"/>
              </a:rPr>
              <a:t>OLUJIMI ET AL. 2025  ·  66 PAPERS</a:t>
            </a:r>
          </a:p>
        </p:txBody>
      </p:sp>
      <p:sp>
        <p:nvSpPr>
          <p:cNvPr id="6" name="TextBox 5"/>
          <p:cNvSpPr txBox="1"/>
          <p:nvPr/>
        </p:nvSpPr>
        <p:spPr>
          <a:xfrm>
            <a:off x="640080" y="1005840"/>
            <a:ext cx="10972800" cy="914400"/>
          </a:xfrm>
          <a:prstGeom prst="rect">
            <a:avLst/>
          </a:prstGeom>
          <a:noFill/>
        </p:spPr>
        <p:txBody>
          <a:bodyPr wrap="square">
            <a:spAutoFit/>
          </a:bodyPr>
          <a:lstStyle/>
          <a:p>
            <a:pPr algn="l"/>
            <a:r>
              <a:rPr sz="2200" b="0" i="1">
                <a:solidFill>
                  <a:srgbClr val="F4F4F8"/>
                </a:solidFill>
                <a:latin typeface="Georgia"/>
              </a:rPr>
              <a:t>The field is ready for what the African AI series built.
The SLR validated the gap. This work fills it.</a:t>
            </a:r>
          </a:p>
        </p:txBody>
      </p:sp>
      <p:sp>
        <p:nvSpPr>
          <p:cNvPr id="7" name="Rectangle 6"/>
          <p:cNvSpPr/>
          <p:nvPr/>
        </p:nvSpPr>
        <p:spPr>
          <a:xfrm>
            <a:off x="640080" y="2148840"/>
            <a:ext cx="3566160" cy="1874519"/>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148840"/>
            <a:ext cx="73152" cy="1874519"/>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13432"/>
            <a:ext cx="3200400" cy="365760"/>
          </a:xfrm>
          <a:prstGeom prst="rect">
            <a:avLst/>
          </a:prstGeom>
          <a:noFill/>
        </p:spPr>
        <p:txBody>
          <a:bodyPr wrap="square">
            <a:spAutoFit/>
          </a:bodyPr>
          <a:lstStyle/>
          <a:p>
            <a:pPr algn="l"/>
            <a:r>
              <a:rPr sz="1400" b="1" i="0">
                <a:solidFill>
                  <a:srgbClr val="D4952A"/>
                </a:solidFill>
                <a:latin typeface="Calibri"/>
              </a:rPr>
              <a:t>SCORE  9.1</a:t>
            </a:r>
          </a:p>
        </p:txBody>
      </p:sp>
      <p:sp>
        <p:nvSpPr>
          <p:cNvPr id="10" name="TextBox 9"/>
          <p:cNvSpPr txBox="1"/>
          <p:nvPr/>
        </p:nvSpPr>
        <p:spPr>
          <a:xfrm>
            <a:off x="896112" y="2679192"/>
            <a:ext cx="3154680" cy="1188719"/>
          </a:xfrm>
          <a:prstGeom prst="rect">
            <a:avLst/>
          </a:prstGeom>
          <a:noFill/>
        </p:spPr>
        <p:txBody>
          <a:bodyPr wrap="square">
            <a:spAutoFit/>
          </a:bodyPr>
          <a:lstStyle/>
          <a:p>
            <a:pPr algn="l"/>
            <a:r>
              <a:rPr sz="1300" b="0" i="0">
                <a:solidFill>
                  <a:srgbClr val="9A9AA8"/>
                </a:solidFill>
                <a:latin typeface="Calibri"/>
              </a:rPr>
              <a:t>Discourse-native SMME agent — explanations that follow Yoruba / Igbo / Hausa arcs.</a:t>
            </a:r>
          </a:p>
        </p:txBody>
      </p:sp>
      <p:sp>
        <p:nvSpPr>
          <p:cNvPr id="11" name="Rectangle 10"/>
          <p:cNvSpPr/>
          <p:nvPr/>
        </p:nvSpPr>
        <p:spPr>
          <a:xfrm>
            <a:off x="4389120" y="2148840"/>
            <a:ext cx="3566160" cy="1874519"/>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2148840"/>
            <a:ext cx="73152" cy="1874519"/>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5152" y="2313432"/>
            <a:ext cx="3200400" cy="365760"/>
          </a:xfrm>
          <a:prstGeom prst="rect">
            <a:avLst/>
          </a:prstGeom>
          <a:noFill/>
        </p:spPr>
        <p:txBody>
          <a:bodyPr wrap="square">
            <a:spAutoFit/>
          </a:bodyPr>
          <a:lstStyle/>
          <a:p>
            <a:pPr algn="l"/>
            <a:r>
              <a:rPr sz="1400" b="1" i="0">
                <a:solidFill>
                  <a:srgbClr val="D4952A"/>
                </a:solidFill>
                <a:latin typeface="Calibri"/>
              </a:rPr>
              <a:t>SCORE  8.8</a:t>
            </a:r>
          </a:p>
        </p:txBody>
      </p:sp>
      <p:sp>
        <p:nvSpPr>
          <p:cNvPr id="14" name="TextBox 13"/>
          <p:cNvSpPr txBox="1"/>
          <p:nvPr/>
        </p:nvSpPr>
        <p:spPr>
          <a:xfrm>
            <a:off x="4645152" y="2679192"/>
            <a:ext cx="3154680" cy="1188719"/>
          </a:xfrm>
          <a:prstGeom prst="rect">
            <a:avLst/>
          </a:prstGeom>
          <a:noFill/>
        </p:spPr>
        <p:txBody>
          <a:bodyPr wrap="square">
            <a:spAutoFit/>
          </a:bodyPr>
          <a:lstStyle/>
          <a:p>
            <a:pPr algn="l"/>
            <a:r>
              <a:rPr sz="1300" b="0" i="0">
                <a:solidFill>
                  <a:srgbClr val="9A9AA8"/>
                </a:solidFill>
                <a:latin typeface="Calibri"/>
              </a:rPr>
              <a:t>First empirical validation of agentic AI in African SMMEs over 6+ months.</a:t>
            </a:r>
          </a:p>
        </p:txBody>
      </p:sp>
      <p:sp>
        <p:nvSpPr>
          <p:cNvPr id="15" name="Rectangle 14"/>
          <p:cNvSpPr/>
          <p:nvPr/>
        </p:nvSpPr>
        <p:spPr>
          <a:xfrm>
            <a:off x="8138159" y="2148840"/>
            <a:ext cx="3566160" cy="1874519"/>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59" y="2148840"/>
            <a:ext cx="73152" cy="1874519"/>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4191" y="2313432"/>
            <a:ext cx="3200400" cy="365760"/>
          </a:xfrm>
          <a:prstGeom prst="rect">
            <a:avLst/>
          </a:prstGeom>
          <a:noFill/>
        </p:spPr>
        <p:txBody>
          <a:bodyPr wrap="square">
            <a:spAutoFit/>
          </a:bodyPr>
          <a:lstStyle/>
          <a:p>
            <a:pPr algn="l"/>
            <a:r>
              <a:rPr sz="1400" b="1" i="0">
                <a:solidFill>
                  <a:srgbClr val="D4952A"/>
                </a:solidFill>
                <a:latin typeface="Calibri"/>
              </a:rPr>
              <a:t>SCORE  8.8</a:t>
            </a:r>
          </a:p>
        </p:txBody>
      </p:sp>
      <p:sp>
        <p:nvSpPr>
          <p:cNvPr id="18" name="TextBox 17"/>
          <p:cNvSpPr txBox="1"/>
          <p:nvPr/>
        </p:nvSpPr>
        <p:spPr>
          <a:xfrm>
            <a:off x="8394191" y="2679192"/>
            <a:ext cx="3154680" cy="1188719"/>
          </a:xfrm>
          <a:prstGeom prst="rect">
            <a:avLst/>
          </a:prstGeom>
          <a:noFill/>
        </p:spPr>
        <p:txBody>
          <a:bodyPr wrap="square">
            <a:spAutoFit/>
          </a:bodyPr>
          <a:lstStyle/>
          <a:p>
            <a:pPr algn="l"/>
            <a:r>
              <a:rPr sz="1300" b="0" i="0">
                <a:solidFill>
                  <a:srgbClr val="9A9AA8"/>
                </a:solidFill>
                <a:latin typeface="Calibri"/>
              </a:rPr>
              <a:t>Ubuntu as multi-agent alignment — relational, not individualist RLHF.</a:t>
            </a:r>
          </a:p>
        </p:txBody>
      </p:sp>
      <p:sp>
        <p:nvSpPr>
          <p:cNvPr id="19" name="Rectangle 18"/>
          <p:cNvSpPr/>
          <p:nvPr/>
        </p:nvSpPr>
        <p:spPr>
          <a:xfrm>
            <a:off x="640080" y="4160520"/>
            <a:ext cx="3566160" cy="1874519"/>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4160520"/>
            <a:ext cx="73152" cy="1874519"/>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325112"/>
            <a:ext cx="3200400" cy="365760"/>
          </a:xfrm>
          <a:prstGeom prst="rect">
            <a:avLst/>
          </a:prstGeom>
          <a:noFill/>
        </p:spPr>
        <p:txBody>
          <a:bodyPr wrap="square">
            <a:spAutoFit/>
          </a:bodyPr>
          <a:lstStyle/>
          <a:p>
            <a:pPr algn="l"/>
            <a:r>
              <a:rPr sz="1400" b="1" i="0">
                <a:solidFill>
                  <a:srgbClr val="D4952A"/>
                </a:solidFill>
                <a:latin typeface="Calibri"/>
              </a:rPr>
              <a:t>SCORE  8.4</a:t>
            </a:r>
          </a:p>
        </p:txBody>
      </p:sp>
      <p:sp>
        <p:nvSpPr>
          <p:cNvPr id="22" name="TextBox 21"/>
          <p:cNvSpPr txBox="1"/>
          <p:nvPr/>
        </p:nvSpPr>
        <p:spPr>
          <a:xfrm>
            <a:off x="896112" y="4690872"/>
            <a:ext cx="3154680" cy="1188719"/>
          </a:xfrm>
          <a:prstGeom prst="rect">
            <a:avLst/>
          </a:prstGeom>
          <a:noFill/>
        </p:spPr>
        <p:txBody>
          <a:bodyPr wrap="square">
            <a:spAutoFit/>
          </a:bodyPr>
          <a:lstStyle/>
          <a:p>
            <a:pPr algn="l"/>
            <a:r>
              <a:rPr sz="1300" b="0" i="0">
                <a:solidFill>
                  <a:srgbClr val="9A9AA8"/>
                </a:solidFill>
                <a:latin typeface="Calibri"/>
              </a:rPr>
              <a:t>Proverb-logic prompt library for inventory, finance, HR, customer, advisory.</a:t>
            </a:r>
          </a:p>
        </p:txBody>
      </p:sp>
      <p:sp>
        <p:nvSpPr>
          <p:cNvPr id="23" name="Rectangle 22"/>
          <p:cNvSpPr/>
          <p:nvPr/>
        </p:nvSpPr>
        <p:spPr>
          <a:xfrm>
            <a:off x="4389120" y="4160520"/>
            <a:ext cx="3566160" cy="1874519"/>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89120" y="4160520"/>
            <a:ext cx="73152" cy="1874519"/>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5152" y="4325112"/>
            <a:ext cx="3200400" cy="365760"/>
          </a:xfrm>
          <a:prstGeom prst="rect">
            <a:avLst/>
          </a:prstGeom>
          <a:noFill/>
        </p:spPr>
        <p:txBody>
          <a:bodyPr wrap="square">
            <a:spAutoFit/>
          </a:bodyPr>
          <a:lstStyle/>
          <a:p>
            <a:pPr algn="l"/>
            <a:r>
              <a:rPr sz="1400" b="1" i="0">
                <a:solidFill>
                  <a:srgbClr val="D4952A"/>
                </a:solidFill>
                <a:latin typeface="Calibri"/>
              </a:rPr>
              <a:t>SCORE  7.9</a:t>
            </a:r>
          </a:p>
        </p:txBody>
      </p:sp>
      <p:sp>
        <p:nvSpPr>
          <p:cNvPr id="26" name="TextBox 25"/>
          <p:cNvSpPr txBox="1"/>
          <p:nvPr/>
        </p:nvSpPr>
        <p:spPr>
          <a:xfrm>
            <a:off x="4645152" y="4690872"/>
            <a:ext cx="3154680" cy="1188719"/>
          </a:xfrm>
          <a:prstGeom prst="rect">
            <a:avLst/>
          </a:prstGeom>
          <a:noFill/>
        </p:spPr>
        <p:txBody>
          <a:bodyPr wrap="square">
            <a:spAutoFit/>
          </a:bodyPr>
          <a:lstStyle/>
          <a:p>
            <a:pPr algn="l"/>
            <a:r>
              <a:rPr sz="1300" b="0" i="0">
                <a:solidFill>
                  <a:srgbClr val="9A9AA8"/>
                </a:solidFill>
                <a:latin typeface="Calibri"/>
              </a:rPr>
              <a:t>Ifá as prior multi-agent decision architecture mapped onto LangChain.</a:t>
            </a:r>
          </a:p>
        </p:txBody>
      </p:sp>
      <p:sp>
        <p:nvSpPr>
          <p:cNvPr id="27" name="Rectangle 26"/>
          <p:cNvSpPr/>
          <p:nvPr/>
        </p:nvSpPr>
        <p:spPr>
          <a:xfrm>
            <a:off x="8138159" y="4160520"/>
            <a:ext cx="3566160" cy="1874519"/>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38159" y="4160520"/>
            <a:ext cx="73152" cy="1874519"/>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94191" y="4325112"/>
            <a:ext cx="3200400" cy="365760"/>
          </a:xfrm>
          <a:prstGeom prst="rect">
            <a:avLst/>
          </a:prstGeom>
          <a:noFill/>
        </p:spPr>
        <p:txBody>
          <a:bodyPr wrap="square">
            <a:spAutoFit/>
          </a:bodyPr>
          <a:lstStyle/>
          <a:p>
            <a:pPr algn="l"/>
            <a:r>
              <a:rPr sz="1400" b="1" i="0">
                <a:solidFill>
                  <a:srgbClr val="D4952A"/>
                </a:solidFill>
                <a:latin typeface="Calibri"/>
              </a:rPr>
              <a:t>SCORE  —</a:t>
            </a:r>
          </a:p>
        </p:txBody>
      </p:sp>
      <p:sp>
        <p:nvSpPr>
          <p:cNvPr id="30" name="TextBox 29"/>
          <p:cNvSpPr txBox="1"/>
          <p:nvPr/>
        </p:nvSpPr>
        <p:spPr>
          <a:xfrm>
            <a:off x="8394191" y="4690872"/>
            <a:ext cx="3154680" cy="1188719"/>
          </a:xfrm>
          <a:prstGeom prst="rect">
            <a:avLst/>
          </a:prstGeom>
          <a:noFill/>
        </p:spPr>
        <p:txBody>
          <a:bodyPr wrap="square">
            <a:spAutoFit/>
          </a:bodyPr>
          <a:lstStyle/>
          <a:p>
            <a:pPr algn="l"/>
            <a:r>
              <a:rPr sz="1300" b="0" i="0">
                <a:solidFill>
                  <a:srgbClr val="9A9AA8"/>
                </a:solidFill>
                <a:latin typeface="Calibri"/>
              </a:rPr>
              <a:t>Honest claim map: structural claims supported. Unicorn / roadmap claims still tentative.</a:t>
            </a:r>
          </a:p>
        </p:txBody>
      </p:sp>
      <p:sp>
        <p:nvSpPr>
          <p:cNvPr id="31" name="Rectangle 30"/>
          <p:cNvSpPr/>
          <p:nvPr/>
        </p:nvSpPr>
        <p:spPr>
          <a:xfrm>
            <a:off x="0" y="6656832"/>
            <a:ext cx="12191695" cy="201168"/>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6656832"/>
            <a:ext cx="7315200" cy="201168"/>
          </a:xfrm>
          <a:prstGeom prst="rect">
            <a:avLst/>
          </a:prstGeom>
          <a:noFill/>
        </p:spPr>
        <p:txBody>
          <a:bodyPr wrap="square">
            <a:spAutoFit/>
          </a:bodyPr>
          <a:lstStyle/>
          <a:p>
            <a:pPr algn="l"/>
            <a:r>
              <a:rPr sz="900" b="1" i="0">
                <a:solidFill>
                  <a:srgbClr val="09090A"/>
                </a:solidFill>
                <a:latin typeface="Calibri"/>
              </a:rPr>
              <a:t>LOG_ON  ·  Lagos  ·  Direction infrastructure for African AI</a:t>
            </a:r>
          </a:p>
        </p:txBody>
      </p:sp>
      <p:sp>
        <p:nvSpPr>
          <p:cNvPr id="33" name="TextBox 32"/>
          <p:cNvSpPr txBox="1"/>
          <p:nvPr/>
        </p:nvSpPr>
        <p:spPr>
          <a:xfrm>
            <a:off x="10424160" y="6656832"/>
            <a:ext cx="1371600" cy="201168"/>
          </a:xfrm>
          <a:prstGeom prst="rect">
            <a:avLst/>
          </a:prstGeom>
          <a:noFill/>
        </p:spPr>
        <p:txBody>
          <a:bodyPr wrap="square">
            <a:spAutoFit/>
          </a:bodyPr>
          <a:lstStyle/>
          <a:p>
            <a:pPr algn="r"/>
            <a:r>
              <a:rPr sz="900" b="1" i="0">
                <a:solidFill>
                  <a:srgbClr val="09090A"/>
                </a:solidFill>
                <a:latin typeface="Calibri"/>
              </a:rPr>
              <a:t>18 / 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5486400" cy="274320"/>
          </a:xfrm>
          <a:prstGeom prst="rect">
            <a:avLst/>
          </a:prstGeom>
          <a:noFill/>
        </p:spPr>
        <p:txBody>
          <a:bodyPr wrap="square">
            <a:spAutoFit/>
          </a:bodyPr>
          <a:lstStyle/>
          <a:p>
            <a:pPr algn="l"/>
            <a:r>
              <a:rPr sz="1100" b="1" i="0">
                <a:solidFill>
                  <a:srgbClr val="D4952A"/>
                </a:solidFill>
                <a:latin typeface="Calibri"/>
              </a:rPr>
              <a:t>LOG_ON</a:t>
            </a:r>
          </a:p>
        </p:txBody>
      </p:sp>
      <p:sp>
        <p:nvSpPr>
          <p:cNvPr id="5" name="TextBox 4"/>
          <p:cNvSpPr txBox="1"/>
          <p:nvPr/>
        </p:nvSpPr>
        <p:spPr>
          <a:xfrm>
            <a:off x="5943600" y="201168"/>
            <a:ext cx="5760720" cy="274320"/>
          </a:xfrm>
          <a:prstGeom prst="rect">
            <a:avLst/>
          </a:prstGeom>
          <a:noFill/>
        </p:spPr>
        <p:txBody>
          <a:bodyPr wrap="square">
            <a:spAutoFit/>
          </a:bodyPr>
          <a:lstStyle/>
          <a:p>
            <a:pPr algn="r"/>
            <a:r>
              <a:rPr sz="1100" b="0" i="0">
                <a:solidFill>
                  <a:srgbClr val="5A5A65"/>
                </a:solidFill>
                <a:latin typeface="Calibri"/>
              </a:rPr>
              <a:t>REC 4  ·  CONTENT WATERFALL</a:t>
            </a:r>
          </a:p>
        </p:txBody>
      </p:sp>
      <p:sp>
        <p:nvSpPr>
          <p:cNvPr id="6" name="TextBox 5"/>
          <p:cNvSpPr txBox="1"/>
          <p:nvPr/>
        </p:nvSpPr>
        <p:spPr>
          <a:xfrm>
            <a:off x="640080" y="1005840"/>
            <a:ext cx="10972800" cy="548640"/>
          </a:xfrm>
          <a:prstGeom prst="rect">
            <a:avLst/>
          </a:prstGeom>
          <a:noFill/>
        </p:spPr>
        <p:txBody>
          <a:bodyPr wrap="square">
            <a:spAutoFit/>
          </a:bodyPr>
          <a:lstStyle/>
          <a:p>
            <a:pPr algn="l"/>
            <a:r>
              <a:rPr sz="2600" b="1" i="0">
                <a:solidFill>
                  <a:srgbClr val="F4F4F8"/>
                </a:solidFill>
                <a:latin typeface="Georgia"/>
              </a:rPr>
              <a:t>The essays exist. The multiplier is not running.</a:t>
            </a:r>
          </a:p>
        </p:txBody>
      </p:sp>
      <p:sp>
        <p:nvSpPr>
          <p:cNvPr id="7" name="Rectangle 6"/>
          <p:cNvSpPr/>
          <p:nvPr/>
        </p:nvSpPr>
        <p:spPr>
          <a:xfrm>
            <a:off x="640080" y="1828800"/>
            <a:ext cx="3566160" cy="201168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828800"/>
            <a:ext cx="73152" cy="201168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993392"/>
            <a:ext cx="3200400" cy="365760"/>
          </a:xfrm>
          <a:prstGeom prst="rect">
            <a:avLst/>
          </a:prstGeom>
          <a:noFill/>
        </p:spPr>
        <p:txBody>
          <a:bodyPr wrap="square">
            <a:spAutoFit/>
          </a:bodyPr>
          <a:lstStyle/>
          <a:p>
            <a:pPr algn="l"/>
            <a:r>
              <a:rPr sz="1400" b="1" i="0">
                <a:solidFill>
                  <a:srgbClr val="D4952A"/>
                </a:solidFill>
                <a:latin typeface="Calibri"/>
              </a:rPr>
              <a:t>ESSAY</a:t>
            </a:r>
          </a:p>
        </p:txBody>
      </p:sp>
      <p:sp>
        <p:nvSpPr>
          <p:cNvPr id="10" name="TextBox 9"/>
          <p:cNvSpPr txBox="1"/>
          <p:nvPr/>
        </p:nvSpPr>
        <p:spPr>
          <a:xfrm>
            <a:off x="896112" y="2359152"/>
            <a:ext cx="3154680" cy="1325880"/>
          </a:xfrm>
          <a:prstGeom prst="rect">
            <a:avLst/>
          </a:prstGeom>
          <a:noFill/>
        </p:spPr>
        <p:txBody>
          <a:bodyPr wrap="square">
            <a:spAutoFit/>
          </a:bodyPr>
          <a:lstStyle/>
          <a:p>
            <a:pPr algn="l"/>
            <a:r>
              <a:rPr sz="1300" b="0" i="0">
                <a:solidFill>
                  <a:srgbClr val="9A9AA8"/>
                </a:solidFill>
                <a:latin typeface="Calibri"/>
              </a:rPr>
              <a:t>Whose Intelligence Is This?
4,200 words, sourced.</a:t>
            </a:r>
          </a:p>
        </p:txBody>
      </p:sp>
      <p:sp>
        <p:nvSpPr>
          <p:cNvPr id="11" name="Rectangle 10"/>
          <p:cNvSpPr/>
          <p:nvPr/>
        </p:nvSpPr>
        <p:spPr>
          <a:xfrm>
            <a:off x="4389120" y="1828800"/>
            <a:ext cx="3566160" cy="201168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828800"/>
            <a:ext cx="73152" cy="201168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5152" y="1993392"/>
            <a:ext cx="3200400" cy="365760"/>
          </a:xfrm>
          <a:prstGeom prst="rect">
            <a:avLst/>
          </a:prstGeom>
          <a:noFill/>
        </p:spPr>
        <p:txBody>
          <a:bodyPr wrap="square">
            <a:spAutoFit/>
          </a:bodyPr>
          <a:lstStyle/>
          <a:p>
            <a:pPr algn="l"/>
            <a:r>
              <a:rPr sz="1400" b="1" i="0">
                <a:solidFill>
                  <a:srgbClr val="D4952A"/>
                </a:solidFill>
                <a:latin typeface="Calibri"/>
              </a:rPr>
              <a:t>YOUTUBE</a:t>
            </a:r>
          </a:p>
        </p:txBody>
      </p:sp>
      <p:sp>
        <p:nvSpPr>
          <p:cNvPr id="14" name="TextBox 13"/>
          <p:cNvSpPr txBox="1"/>
          <p:nvPr/>
        </p:nvSpPr>
        <p:spPr>
          <a:xfrm>
            <a:off x="4645152" y="2359152"/>
            <a:ext cx="3154680" cy="1325880"/>
          </a:xfrm>
          <a:prstGeom prst="rect">
            <a:avLst/>
          </a:prstGeom>
          <a:noFill/>
        </p:spPr>
        <p:txBody>
          <a:bodyPr wrap="square">
            <a:spAutoFit/>
          </a:bodyPr>
          <a:lstStyle/>
          <a:p>
            <a:pPr algn="l"/>
            <a:r>
              <a:rPr sz="1300" b="0" i="0">
                <a:solidFill>
                  <a:srgbClr val="9A9AA8"/>
                </a:solidFill>
                <a:latin typeface="Calibri"/>
              </a:rPr>
              <a:t>15-minute camera script.
Architecture → authorship → Africa.</a:t>
            </a:r>
          </a:p>
        </p:txBody>
      </p:sp>
      <p:sp>
        <p:nvSpPr>
          <p:cNvPr id="15" name="Rectangle 14"/>
          <p:cNvSpPr/>
          <p:nvPr/>
        </p:nvSpPr>
        <p:spPr>
          <a:xfrm>
            <a:off x="8138159" y="1828800"/>
            <a:ext cx="3566160" cy="201168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59" y="1828800"/>
            <a:ext cx="73152" cy="201168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4191" y="1993392"/>
            <a:ext cx="3200400" cy="365760"/>
          </a:xfrm>
          <a:prstGeom prst="rect">
            <a:avLst/>
          </a:prstGeom>
          <a:noFill/>
        </p:spPr>
        <p:txBody>
          <a:bodyPr wrap="square">
            <a:spAutoFit/>
          </a:bodyPr>
          <a:lstStyle/>
          <a:p>
            <a:pPr algn="l"/>
            <a:r>
              <a:rPr sz="1400" b="1" i="0">
                <a:solidFill>
                  <a:srgbClr val="D4952A"/>
                </a:solidFill>
                <a:latin typeface="Calibri"/>
              </a:rPr>
              <a:t>THREADS</a:t>
            </a:r>
          </a:p>
        </p:txBody>
      </p:sp>
      <p:sp>
        <p:nvSpPr>
          <p:cNvPr id="18" name="TextBox 17"/>
          <p:cNvSpPr txBox="1"/>
          <p:nvPr/>
        </p:nvSpPr>
        <p:spPr>
          <a:xfrm>
            <a:off x="8394191" y="2359152"/>
            <a:ext cx="3154680" cy="1325880"/>
          </a:xfrm>
          <a:prstGeom prst="rect">
            <a:avLst/>
          </a:prstGeom>
          <a:noFill/>
        </p:spPr>
        <p:txBody>
          <a:bodyPr wrap="square">
            <a:spAutoFit/>
          </a:bodyPr>
          <a:lstStyle/>
          <a:p>
            <a:pPr algn="l"/>
            <a:r>
              <a:rPr sz="1300" b="0" i="0">
                <a:solidFill>
                  <a:srgbClr val="9A9AA8"/>
                </a:solidFill>
                <a:latin typeface="Calibri"/>
              </a:rPr>
              <a:t>5 LinkedIn threads from sections.
One argument each.</a:t>
            </a:r>
          </a:p>
        </p:txBody>
      </p:sp>
      <p:sp>
        <p:nvSpPr>
          <p:cNvPr id="19" name="Rectangle 18"/>
          <p:cNvSpPr/>
          <p:nvPr/>
        </p:nvSpPr>
        <p:spPr>
          <a:xfrm>
            <a:off x="640080" y="3977639"/>
            <a:ext cx="3566160" cy="201168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3977639"/>
            <a:ext cx="73152" cy="201168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142231"/>
            <a:ext cx="3200400" cy="365760"/>
          </a:xfrm>
          <a:prstGeom prst="rect">
            <a:avLst/>
          </a:prstGeom>
          <a:noFill/>
        </p:spPr>
        <p:txBody>
          <a:bodyPr wrap="square">
            <a:spAutoFit/>
          </a:bodyPr>
          <a:lstStyle/>
          <a:p>
            <a:pPr algn="l"/>
            <a:r>
              <a:rPr sz="1400" b="1" i="0">
                <a:solidFill>
                  <a:srgbClr val="D4952A"/>
                </a:solidFill>
                <a:latin typeface="Calibri"/>
              </a:rPr>
              <a:t>DMS</a:t>
            </a:r>
          </a:p>
        </p:txBody>
      </p:sp>
      <p:sp>
        <p:nvSpPr>
          <p:cNvPr id="22" name="TextBox 21"/>
          <p:cNvSpPr txBox="1"/>
          <p:nvPr/>
        </p:nvSpPr>
        <p:spPr>
          <a:xfrm>
            <a:off x="896112" y="4507991"/>
            <a:ext cx="3154680" cy="1325880"/>
          </a:xfrm>
          <a:prstGeom prst="rect">
            <a:avLst/>
          </a:prstGeom>
          <a:noFill/>
        </p:spPr>
        <p:txBody>
          <a:bodyPr wrap="square">
            <a:spAutoFit/>
          </a:bodyPr>
          <a:lstStyle/>
          <a:p>
            <a:pPr algn="l"/>
            <a:r>
              <a:rPr sz="1300" b="0" i="0">
                <a:solidFill>
                  <a:srgbClr val="9A9AA8"/>
                </a:solidFill>
                <a:latin typeface="Calibri"/>
              </a:rPr>
              <a:t>EdTech, fintech, NGO, bank,
government — 48-hour audit.</a:t>
            </a:r>
          </a:p>
        </p:txBody>
      </p:sp>
      <p:sp>
        <p:nvSpPr>
          <p:cNvPr id="23" name="Rectangle 22"/>
          <p:cNvSpPr/>
          <p:nvPr/>
        </p:nvSpPr>
        <p:spPr>
          <a:xfrm>
            <a:off x="4389120" y="3977639"/>
            <a:ext cx="3566160" cy="201168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89120" y="3977639"/>
            <a:ext cx="73152" cy="201168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5152" y="4142231"/>
            <a:ext cx="3200400" cy="365760"/>
          </a:xfrm>
          <a:prstGeom prst="rect">
            <a:avLst/>
          </a:prstGeom>
          <a:noFill/>
        </p:spPr>
        <p:txBody>
          <a:bodyPr wrap="square">
            <a:spAutoFit/>
          </a:bodyPr>
          <a:lstStyle/>
          <a:p>
            <a:pPr algn="l"/>
            <a:r>
              <a:rPr sz="1400" b="1" i="0">
                <a:solidFill>
                  <a:srgbClr val="D4952A"/>
                </a:solidFill>
                <a:latin typeface="Calibri"/>
              </a:rPr>
              <a:t>PODCAST</a:t>
            </a:r>
          </a:p>
        </p:txBody>
      </p:sp>
      <p:sp>
        <p:nvSpPr>
          <p:cNvPr id="26" name="TextBox 25"/>
          <p:cNvSpPr txBox="1"/>
          <p:nvPr/>
        </p:nvSpPr>
        <p:spPr>
          <a:xfrm>
            <a:off x="4645152" y="4507991"/>
            <a:ext cx="3154680" cy="1325880"/>
          </a:xfrm>
          <a:prstGeom prst="rect">
            <a:avLst/>
          </a:prstGeom>
          <a:noFill/>
        </p:spPr>
        <p:txBody>
          <a:bodyPr wrap="square">
            <a:spAutoFit/>
          </a:bodyPr>
          <a:lstStyle/>
          <a:p>
            <a:pPr algn="l"/>
            <a:r>
              <a:rPr sz="1300" b="0" i="0">
                <a:solidFill>
                  <a:srgbClr val="9A9AA8"/>
                </a:solidFill>
                <a:latin typeface="Calibri"/>
              </a:rPr>
              <a:t>Outline from the same spine.
One recording day.</a:t>
            </a:r>
          </a:p>
        </p:txBody>
      </p:sp>
      <p:sp>
        <p:nvSpPr>
          <p:cNvPr id="27" name="Rectangle 26"/>
          <p:cNvSpPr/>
          <p:nvPr/>
        </p:nvSpPr>
        <p:spPr>
          <a:xfrm>
            <a:off x="8138159" y="3977639"/>
            <a:ext cx="3566160" cy="201168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38159" y="3977639"/>
            <a:ext cx="73152" cy="201168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94191" y="4142231"/>
            <a:ext cx="3200400" cy="365760"/>
          </a:xfrm>
          <a:prstGeom prst="rect">
            <a:avLst/>
          </a:prstGeom>
          <a:noFill/>
        </p:spPr>
        <p:txBody>
          <a:bodyPr wrap="square">
            <a:spAutoFit/>
          </a:bodyPr>
          <a:lstStyle/>
          <a:p>
            <a:pPr algn="l"/>
            <a:r>
              <a:rPr sz="1400" b="1" i="0">
                <a:solidFill>
                  <a:srgbClr val="D4952A"/>
                </a:solidFill>
                <a:latin typeface="Calibri"/>
              </a:rPr>
              <a:t>DECK</a:t>
            </a:r>
          </a:p>
        </p:txBody>
      </p:sp>
      <p:sp>
        <p:nvSpPr>
          <p:cNvPr id="30" name="TextBox 29"/>
          <p:cNvSpPr txBox="1"/>
          <p:nvPr/>
        </p:nvSpPr>
        <p:spPr>
          <a:xfrm>
            <a:off x="8394191" y="4507991"/>
            <a:ext cx="3154680" cy="1325880"/>
          </a:xfrm>
          <a:prstGeom prst="rect">
            <a:avLst/>
          </a:prstGeom>
          <a:noFill/>
        </p:spPr>
        <p:txBody>
          <a:bodyPr wrap="square">
            <a:spAutoFit/>
          </a:bodyPr>
          <a:lstStyle/>
          <a:p>
            <a:pPr algn="l"/>
            <a:r>
              <a:rPr sz="1300" b="0" i="0">
                <a:solidFill>
                  <a:srgbClr val="9A9AA8"/>
                </a:solidFill>
                <a:latin typeface="Calibri"/>
              </a:rPr>
              <a:t>This file. Shareable with
fundants, clients, collaborators.</a:t>
            </a:r>
          </a:p>
        </p:txBody>
      </p:sp>
      <p:sp>
        <p:nvSpPr>
          <p:cNvPr id="31" name="Rectangle 30"/>
          <p:cNvSpPr/>
          <p:nvPr/>
        </p:nvSpPr>
        <p:spPr>
          <a:xfrm>
            <a:off x="0" y="6656832"/>
            <a:ext cx="12191695" cy="201168"/>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6656832"/>
            <a:ext cx="7315200" cy="201168"/>
          </a:xfrm>
          <a:prstGeom prst="rect">
            <a:avLst/>
          </a:prstGeom>
          <a:noFill/>
        </p:spPr>
        <p:txBody>
          <a:bodyPr wrap="square">
            <a:spAutoFit/>
          </a:bodyPr>
          <a:lstStyle/>
          <a:p>
            <a:pPr algn="l"/>
            <a:r>
              <a:rPr sz="900" b="1" i="0">
                <a:solidFill>
                  <a:srgbClr val="09090A"/>
                </a:solidFill>
                <a:latin typeface="Calibri"/>
              </a:rPr>
              <a:t>LOG_ON  ·  Lagos  ·  Direction infrastructure for African AI</a:t>
            </a:r>
          </a:p>
        </p:txBody>
      </p:sp>
      <p:sp>
        <p:nvSpPr>
          <p:cNvPr id="33" name="TextBox 32"/>
          <p:cNvSpPr txBox="1"/>
          <p:nvPr/>
        </p:nvSpPr>
        <p:spPr>
          <a:xfrm>
            <a:off x="10424160" y="6656832"/>
            <a:ext cx="1371600" cy="201168"/>
          </a:xfrm>
          <a:prstGeom prst="rect">
            <a:avLst/>
          </a:prstGeom>
          <a:noFill/>
        </p:spPr>
        <p:txBody>
          <a:bodyPr wrap="square">
            <a:spAutoFit/>
          </a:bodyPr>
          <a:lstStyle/>
          <a:p>
            <a:pPr algn="r"/>
            <a:r>
              <a:rPr sz="900" b="1" i="0">
                <a:solidFill>
                  <a:srgbClr val="09090A"/>
                </a:solidFill>
                <a:latin typeface="Calibri"/>
              </a:rPr>
              <a:t>19 / 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5486400" cy="274320"/>
          </a:xfrm>
          <a:prstGeom prst="rect">
            <a:avLst/>
          </a:prstGeom>
          <a:noFill/>
        </p:spPr>
        <p:txBody>
          <a:bodyPr wrap="square">
            <a:spAutoFit/>
          </a:bodyPr>
          <a:lstStyle/>
          <a:p>
            <a:pPr algn="l"/>
            <a:r>
              <a:rPr sz="1100" b="1" i="0">
                <a:solidFill>
                  <a:srgbClr val="D4952A"/>
                </a:solidFill>
                <a:latin typeface="Calibri"/>
              </a:rPr>
              <a:t>LOG_ON</a:t>
            </a:r>
          </a:p>
        </p:txBody>
      </p:sp>
      <p:sp>
        <p:nvSpPr>
          <p:cNvPr id="5" name="TextBox 4"/>
          <p:cNvSpPr txBox="1"/>
          <p:nvPr/>
        </p:nvSpPr>
        <p:spPr>
          <a:xfrm>
            <a:off x="5943600" y="201168"/>
            <a:ext cx="5760720" cy="274320"/>
          </a:xfrm>
          <a:prstGeom prst="rect">
            <a:avLst/>
          </a:prstGeom>
          <a:noFill/>
        </p:spPr>
        <p:txBody>
          <a:bodyPr wrap="square">
            <a:spAutoFit/>
          </a:bodyPr>
          <a:lstStyle/>
          <a:p>
            <a:pPr algn="r"/>
            <a:r>
              <a:rPr sz="1100" b="0" i="0">
                <a:solidFill>
                  <a:srgbClr val="5A5A65"/>
                </a:solidFill>
                <a:latin typeface="Calibri"/>
              </a:rPr>
              <a:t>REC 6  ·  30-DAY RUN PLAN</a:t>
            </a:r>
          </a:p>
        </p:txBody>
      </p:sp>
      <p:sp>
        <p:nvSpPr>
          <p:cNvPr id="6" name="TextBox 5"/>
          <p:cNvSpPr txBox="1"/>
          <p:nvPr/>
        </p:nvSpPr>
        <p:spPr>
          <a:xfrm>
            <a:off x="640080" y="1005840"/>
            <a:ext cx="10972800" cy="457200"/>
          </a:xfrm>
          <a:prstGeom prst="rect">
            <a:avLst/>
          </a:prstGeom>
          <a:noFill/>
        </p:spPr>
        <p:txBody>
          <a:bodyPr wrap="square">
            <a:spAutoFit/>
          </a:bodyPr>
          <a:lstStyle/>
          <a:p>
            <a:pPr algn="l"/>
            <a:r>
              <a:rPr sz="2800" b="1" i="0">
                <a:solidFill>
                  <a:srgbClr val="F4F4F8"/>
                </a:solidFill>
                <a:latin typeface="Georgia"/>
              </a:rPr>
              <a:t>Direction first. Then speed.</a:t>
            </a:r>
          </a:p>
        </p:txBody>
      </p:sp>
      <p:sp>
        <p:nvSpPr>
          <p:cNvPr id="7" name="Rectangle 6"/>
          <p:cNvSpPr/>
          <p:nvPr/>
        </p:nvSpPr>
        <p:spPr>
          <a:xfrm>
            <a:off x="640080" y="1691640"/>
            <a:ext cx="10881360" cy="987552"/>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91640"/>
            <a:ext cx="2011680" cy="9875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984248"/>
            <a:ext cx="1783080" cy="457200"/>
          </a:xfrm>
          <a:prstGeom prst="rect">
            <a:avLst/>
          </a:prstGeom>
          <a:noFill/>
        </p:spPr>
        <p:txBody>
          <a:bodyPr wrap="square">
            <a:spAutoFit/>
          </a:bodyPr>
          <a:lstStyle/>
          <a:p>
            <a:pPr algn="l"/>
            <a:r>
              <a:rPr sz="1400" b="1" i="0">
                <a:solidFill>
                  <a:srgbClr val="09090A"/>
                </a:solidFill>
                <a:latin typeface="Calibri"/>
              </a:rPr>
              <a:t>WEEK 1</a:t>
            </a:r>
          </a:p>
        </p:txBody>
      </p:sp>
      <p:sp>
        <p:nvSpPr>
          <p:cNvPr id="10" name="TextBox 9"/>
          <p:cNvSpPr txBox="1"/>
          <p:nvPr/>
        </p:nvSpPr>
        <p:spPr>
          <a:xfrm>
            <a:off x="2880360" y="1947672"/>
            <a:ext cx="8321040" cy="502920"/>
          </a:xfrm>
          <a:prstGeom prst="rect">
            <a:avLst/>
          </a:prstGeom>
          <a:noFill/>
        </p:spPr>
        <p:txBody>
          <a:bodyPr wrap="square">
            <a:spAutoFit/>
          </a:bodyPr>
          <a:lstStyle/>
          <a:p>
            <a:pPr algn="l"/>
            <a:r>
              <a:rPr sz="1600" b="0" i="0">
                <a:solidFill>
                  <a:srgbClr val="E8E8F0"/>
                </a:solidFill>
                <a:latin typeface="Calibri"/>
              </a:rPr>
              <a:t>Publish LFA + mission. Lock three-tier offer copy. Freeze PAL v0.1 schema.</a:t>
            </a:r>
          </a:p>
        </p:txBody>
      </p:sp>
      <p:sp>
        <p:nvSpPr>
          <p:cNvPr id="11" name="Rectangle 10"/>
          <p:cNvSpPr/>
          <p:nvPr/>
        </p:nvSpPr>
        <p:spPr>
          <a:xfrm>
            <a:off x="640080" y="2788920"/>
            <a:ext cx="10881360" cy="987552"/>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2788920"/>
            <a:ext cx="2011680" cy="9875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081528"/>
            <a:ext cx="1783080" cy="457200"/>
          </a:xfrm>
          <a:prstGeom prst="rect">
            <a:avLst/>
          </a:prstGeom>
          <a:noFill/>
        </p:spPr>
        <p:txBody>
          <a:bodyPr wrap="square">
            <a:spAutoFit/>
          </a:bodyPr>
          <a:lstStyle/>
          <a:p>
            <a:pPr algn="l"/>
            <a:r>
              <a:rPr sz="1400" b="1" i="0">
                <a:solidFill>
                  <a:srgbClr val="09090A"/>
                </a:solidFill>
                <a:latin typeface="Calibri"/>
              </a:rPr>
              <a:t>WEEK 2</a:t>
            </a:r>
          </a:p>
        </p:txBody>
      </p:sp>
      <p:sp>
        <p:nvSpPr>
          <p:cNvPr id="14" name="TextBox 13"/>
          <p:cNvSpPr txBox="1"/>
          <p:nvPr/>
        </p:nvSpPr>
        <p:spPr>
          <a:xfrm>
            <a:off x="2880360" y="3044952"/>
            <a:ext cx="8321040" cy="502920"/>
          </a:xfrm>
          <a:prstGeom prst="rect">
            <a:avLst/>
          </a:prstGeom>
          <a:noFill/>
        </p:spPr>
        <p:txBody>
          <a:bodyPr wrap="square">
            <a:spAutoFit/>
          </a:bodyPr>
          <a:lstStyle/>
          <a:p>
            <a:pPr algn="l"/>
            <a:r>
              <a:rPr sz="1600" b="0" i="0">
                <a:solidFill>
                  <a:srgbClr val="E8E8F0"/>
                </a:solidFill>
                <a:latin typeface="Calibri"/>
              </a:rPr>
              <a:t>Agent environment audits. 15 outreach DMs. Record YouTube video 1.</a:t>
            </a:r>
          </a:p>
        </p:txBody>
      </p:sp>
      <p:sp>
        <p:nvSpPr>
          <p:cNvPr id="15" name="Rectangle 14"/>
          <p:cNvSpPr/>
          <p:nvPr/>
        </p:nvSpPr>
        <p:spPr>
          <a:xfrm>
            <a:off x="640080" y="3886200"/>
            <a:ext cx="10881360" cy="987552"/>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3886200"/>
            <a:ext cx="2011680" cy="9875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178808"/>
            <a:ext cx="1783080" cy="457200"/>
          </a:xfrm>
          <a:prstGeom prst="rect">
            <a:avLst/>
          </a:prstGeom>
          <a:noFill/>
        </p:spPr>
        <p:txBody>
          <a:bodyPr wrap="square">
            <a:spAutoFit/>
          </a:bodyPr>
          <a:lstStyle/>
          <a:p>
            <a:pPr algn="l"/>
            <a:r>
              <a:rPr sz="1400" b="1" i="0">
                <a:solidFill>
                  <a:srgbClr val="09090A"/>
                </a:solidFill>
                <a:latin typeface="Calibri"/>
              </a:rPr>
              <a:t>WEEK 3</a:t>
            </a:r>
          </a:p>
        </p:txBody>
      </p:sp>
      <p:sp>
        <p:nvSpPr>
          <p:cNvPr id="18" name="TextBox 17"/>
          <p:cNvSpPr txBox="1"/>
          <p:nvPr/>
        </p:nvSpPr>
        <p:spPr>
          <a:xfrm>
            <a:off x="2880360" y="4142232"/>
            <a:ext cx="8321040" cy="502920"/>
          </a:xfrm>
          <a:prstGeom prst="rect">
            <a:avLst/>
          </a:prstGeom>
          <a:noFill/>
        </p:spPr>
        <p:txBody>
          <a:bodyPr wrap="square">
            <a:spAutoFit/>
          </a:bodyPr>
          <a:lstStyle/>
          <a:p>
            <a:pPr algn="l"/>
            <a:r>
              <a:rPr sz="1600" b="0" i="0">
                <a:solidFill>
                  <a:srgbClr val="E8E8F0"/>
                </a:solidFill>
                <a:latin typeface="Calibri"/>
              </a:rPr>
              <a:t>LinkedIn waterfall live. Schmidt co-PI outreach. Ibadan / Lagos linguist list.</a:t>
            </a:r>
          </a:p>
        </p:txBody>
      </p:sp>
      <p:sp>
        <p:nvSpPr>
          <p:cNvPr id="19" name="Rectangle 18"/>
          <p:cNvSpPr/>
          <p:nvPr/>
        </p:nvSpPr>
        <p:spPr>
          <a:xfrm>
            <a:off x="640080" y="4983479"/>
            <a:ext cx="10881360" cy="987552"/>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4983479"/>
            <a:ext cx="2011680" cy="9875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276087"/>
            <a:ext cx="1783080" cy="457200"/>
          </a:xfrm>
          <a:prstGeom prst="rect">
            <a:avLst/>
          </a:prstGeom>
          <a:noFill/>
        </p:spPr>
        <p:txBody>
          <a:bodyPr wrap="square">
            <a:spAutoFit/>
          </a:bodyPr>
          <a:lstStyle/>
          <a:p>
            <a:pPr algn="l"/>
            <a:r>
              <a:rPr sz="1400" b="1" i="0">
                <a:solidFill>
                  <a:srgbClr val="09090A"/>
                </a:solidFill>
                <a:latin typeface="Calibri"/>
              </a:rPr>
              <a:t>WEEK 4</a:t>
            </a:r>
          </a:p>
        </p:txBody>
      </p:sp>
      <p:sp>
        <p:nvSpPr>
          <p:cNvPr id="22" name="TextBox 21"/>
          <p:cNvSpPr txBox="1"/>
          <p:nvPr/>
        </p:nvSpPr>
        <p:spPr>
          <a:xfrm>
            <a:off x="2880360" y="5239511"/>
            <a:ext cx="8321040" cy="502920"/>
          </a:xfrm>
          <a:prstGeom prst="rect">
            <a:avLst/>
          </a:prstGeom>
          <a:noFill/>
        </p:spPr>
        <p:txBody>
          <a:bodyPr wrap="square">
            <a:spAutoFit/>
          </a:bodyPr>
          <a:lstStyle/>
          <a:p>
            <a:pPr algn="l"/>
            <a:r>
              <a:rPr sz="1600" b="0" i="0">
                <a:solidFill>
                  <a:srgbClr val="E8E8F0"/>
                </a:solidFill>
                <a:latin typeface="Calibri"/>
              </a:rPr>
              <a:t>First paid audit. 10 PAL proverbs annotated. Grant calendar lock.</a:t>
            </a:r>
          </a:p>
        </p:txBody>
      </p:sp>
      <p:sp>
        <p:nvSpPr>
          <p:cNvPr id="23" name="Rectangle 22"/>
          <p:cNvSpPr/>
          <p:nvPr/>
        </p:nvSpPr>
        <p:spPr>
          <a:xfrm>
            <a:off x="0" y="6656832"/>
            <a:ext cx="12191695" cy="201168"/>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6656832"/>
            <a:ext cx="7315200" cy="201168"/>
          </a:xfrm>
          <a:prstGeom prst="rect">
            <a:avLst/>
          </a:prstGeom>
          <a:noFill/>
        </p:spPr>
        <p:txBody>
          <a:bodyPr wrap="square">
            <a:spAutoFit/>
          </a:bodyPr>
          <a:lstStyle/>
          <a:p>
            <a:pPr algn="l"/>
            <a:r>
              <a:rPr sz="900" b="1" i="0">
                <a:solidFill>
                  <a:srgbClr val="09090A"/>
                </a:solidFill>
                <a:latin typeface="Calibri"/>
              </a:rPr>
              <a:t>LOG_ON  ·  Lagos  ·  Direction infrastructure for African AI</a:t>
            </a:r>
          </a:p>
        </p:txBody>
      </p:sp>
      <p:sp>
        <p:nvSpPr>
          <p:cNvPr id="25" name="TextBox 24"/>
          <p:cNvSpPr txBox="1"/>
          <p:nvPr/>
        </p:nvSpPr>
        <p:spPr>
          <a:xfrm>
            <a:off x="10424160" y="6656832"/>
            <a:ext cx="1371600" cy="201168"/>
          </a:xfrm>
          <a:prstGeom prst="rect">
            <a:avLst/>
          </a:prstGeom>
          <a:noFill/>
        </p:spPr>
        <p:txBody>
          <a:bodyPr wrap="square">
            <a:spAutoFit/>
          </a:bodyPr>
          <a:lstStyle/>
          <a:p>
            <a:pPr algn="r"/>
            <a:r>
              <a:rPr sz="900" b="1" i="0">
                <a:solidFill>
                  <a:srgbClr val="09090A"/>
                </a:solidFill>
                <a:latin typeface="Calibri"/>
              </a:rPr>
              <a:t>20 /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5486400" cy="274320"/>
          </a:xfrm>
          <a:prstGeom prst="rect">
            <a:avLst/>
          </a:prstGeom>
          <a:noFill/>
        </p:spPr>
        <p:txBody>
          <a:bodyPr wrap="square">
            <a:spAutoFit/>
          </a:bodyPr>
          <a:lstStyle/>
          <a:p>
            <a:pPr algn="l"/>
            <a:r>
              <a:rPr sz="1100" b="1" i="0">
                <a:solidFill>
                  <a:srgbClr val="D4952A"/>
                </a:solidFill>
                <a:latin typeface="Calibri"/>
              </a:rPr>
              <a:t>LOG_ON</a:t>
            </a:r>
          </a:p>
        </p:txBody>
      </p:sp>
      <p:sp>
        <p:nvSpPr>
          <p:cNvPr id="5" name="TextBox 4"/>
          <p:cNvSpPr txBox="1"/>
          <p:nvPr/>
        </p:nvSpPr>
        <p:spPr>
          <a:xfrm>
            <a:off x="5943600" y="201168"/>
            <a:ext cx="5760720" cy="274320"/>
          </a:xfrm>
          <a:prstGeom prst="rect">
            <a:avLst/>
          </a:prstGeom>
          <a:noFill/>
        </p:spPr>
        <p:txBody>
          <a:bodyPr wrap="square">
            <a:spAutoFit/>
          </a:bodyPr>
          <a:lstStyle/>
          <a:p>
            <a:pPr algn="r"/>
            <a:r>
              <a:rPr sz="1100" b="0" i="0">
                <a:solidFill>
                  <a:srgbClr val="5A5A65"/>
                </a:solidFill>
                <a:latin typeface="Calibri"/>
              </a:rPr>
              <a:t>THE MOAT</a:t>
            </a:r>
          </a:p>
        </p:txBody>
      </p:sp>
      <p:sp>
        <p:nvSpPr>
          <p:cNvPr id="6" name="TextBox 5"/>
          <p:cNvSpPr txBox="1"/>
          <p:nvPr/>
        </p:nvSpPr>
        <p:spPr>
          <a:xfrm>
            <a:off x="640080" y="1051560"/>
            <a:ext cx="10972800" cy="640080"/>
          </a:xfrm>
          <a:prstGeom prst="rect">
            <a:avLst/>
          </a:prstGeom>
          <a:noFill/>
        </p:spPr>
        <p:txBody>
          <a:bodyPr wrap="square">
            <a:spAutoFit/>
          </a:bodyPr>
          <a:lstStyle/>
          <a:p>
            <a:pPr algn="l"/>
            <a:r>
              <a:rPr sz="2000" b="0" i="1">
                <a:solidFill>
                  <a:srgbClr val="F4F4F8"/>
                </a:solidFill>
                <a:latin typeface="Georgia"/>
              </a:rPr>
              <a:t>Trust × systems competence × knowing what the agent needs before it breaks.</a:t>
            </a:r>
          </a:p>
        </p:txBody>
      </p:sp>
      <p:sp>
        <p:nvSpPr>
          <p:cNvPr id="7" name="Rectangle 6"/>
          <p:cNvSpPr/>
          <p:nvPr/>
        </p:nvSpPr>
        <p:spPr>
          <a:xfrm>
            <a:off x="640080" y="1920240"/>
            <a:ext cx="10881360" cy="96012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76272"/>
            <a:ext cx="1097280" cy="457200"/>
          </a:xfrm>
          <a:prstGeom prst="rect">
            <a:avLst/>
          </a:prstGeom>
          <a:noFill/>
        </p:spPr>
        <p:txBody>
          <a:bodyPr wrap="square">
            <a:spAutoFit/>
          </a:bodyPr>
          <a:lstStyle/>
          <a:p>
            <a:pPr algn="l"/>
            <a:r>
              <a:rPr sz="2200" b="1" i="0">
                <a:solidFill>
                  <a:srgbClr val="D4952A"/>
                </a:solidFill>
                <a:latin typeface="Georgia"/>
              </a:rPr>
              <a:t>01</a:t>
            </a:r>
          </a:p>
        </p:txBody>
      </p:sp>
      <p:sp>
        <p:nvSpPr>
          <p:cNvPr id="9" name="TextBox 8"/>
          <p:cNvSpPr txBox="1"/>
          <p:nvPr/>
        </p:nvSpPr>
        <p:spPr>
          <a:xfrm>
            <a:off x="2194560" y="2212848"/>
            <a:ext cx="8961120" cy="457200"/>
          </a:xfrm>
          <a:prstGeom prst="rect">
            <a:avLst/>
          </a:prstGeom>
          <a:noFill/>
        </p:spPr>
        <p:txBody>
          <a:bodyPr wrap="square">
            <a:spAutoFit/>
          </a:bodyPr>
          <a:lstStyle/>
          <a:p>
            <a:pPr algn="l"/>
            <a:r>
              <a:rPr sz="1600" b="0" i="0">
                <a:solidFill>
                  <a:srgbClr val="E8E8F0"/>
                </a:solidFill>
                <a:latin typeface="Calibri"/>
              </a:rPr>
              <a:t>25 years of systems-level operations, upstream to downstream oil and gas.</a:t>
            </a:r>
          </a:p>
        </p:txBody>
      </p:sp>
      <p:sp>
        <p:nvSpPr>
          <p:cNvPr id="10" name="Rectangle 9"/>
          <p:cNvSpPr/>
          <p:nvPr/>
        </p:nvSpPr>
        <p:spPr>
          <a:xfrm>
            <a:off x="640080" y="2971800"/>
            <a:ext cx="10881360" cy="96012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227832"/>
            <a:ext cx="1097280" cy="457200"/>
          </a:xfrm>
          <a:prstGeom prst="rect">
            <a:avLst/>
          </a:prstGeom>
          <a:noFill/>
        </p:spPr>
        <p:txBody>
          <a:bodyPr wrap="square">
            <a:spAutoFit/>
          </a:bodyPr>
          <a:lstStyle/>
          <a:p>
            <a:pPr algn="l"/>
            <a:r>
              <a:rPr sz="2200" b="1" i="0">
                <a:solidFill>
                  <a:srgbClr val="D4952A"/>
                </a:solidFill>
                <a:latin typeface="Georgia"/>
              </a:rPr>
              <a:t>02</a:t>
            </a:r>
          </a:p>
        </p:txBody>
      </p:sp>
      <p:sp>
        <p:nvSpPr>
          <p:cNvPr id="12" name="TextBox 11"/>
          <p:cNvSpPr txBox="1"/>
          <p:nvPr/>
        </p:nvSpPr>
        <p:spPr>
          <a:xfrm>
            <a:off x="2194560" y="3264408"/>
            <a:ext cx="8961120" cy="457200"/>
          </a:xfrm>
          <a:prstGeom prst="rect">
            <a:avLst/>
          </a:prstGeom>
          <a:noFill/>
        </p:spPr>
        <p:txBody>
          <a:bodyPr wrap="square">
            <a:spAutoFit/>
          </a:bodyPr>
          <a:lstStyle/>
          <a:p>
            <a:pPr algn="l"/>
            <a:r>
              <a:rPr sz="1600" b="0" i="0">
                <a:solidFill>
                  <a:srgbClr val="E8E8F0"/>
                </a:solidFill>
                <a:latin typeface="Calibri"/>
              </a:rPr>
              <a:t>Original African cognitive AI research — public, citable, grant-shaped.</a:t>
            </a:r>
          </a:p>
        </p:txBody>
      </p:sp>
      <p:sp>
        <p:nvSpPr>
          <p:cNvPr id="13" name="Rectangle 12"/>
          <p:cNvSpPr/>
          <p:nvPr/>
        </p:nvSpPr>
        <p:spPr>
          <a:xfrm>
            <a:off x="640080" y="4023360"/>
            <a:ext cx="10881360" cy="96012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279392"/>
            <a:ext cx="1097280" cy="457200"/>
          </a:xfrm>
          <a:prstGeom prst="rect">
            <a:avLst/>
          </a:prstGeom>
          <a:noFill/>
        </p:spPr>
        <p:txBody>
          <a:bodyPr wrap="square">
            <a:spAutoFit/>
          </a:bodyPr>
          <a:lstStyle/>
          <a:p>
            <a:pPr algn="l"/>
            <a:r>
              <a:rPr sz="2200" b="1" i="0">
                <a:solidFill>
                  <a:srgbClr val="D4952A"/>
                </a:solidFill>
                <a:latin typeface="Georgia"/>
              </a:rPr>
              <a:t>03</a:t>
            </a:r>
          </a:p>
        </p:txBody>
      </p:sp>
      <p:sp>
        <p:nvSpPr>
          <p:cNvPr id="15" name="TextBox 14"/>
          <p:cNvSpPr txBox="1"/>
          <p:nvPr/>
        </p:nvSpPr>
        <p:spPr>
          <a:xfrm>
            <a:off x="2194560" y="4315968"/>
            <a:ext cx="8961120" cy="457200"/>
          </a:xfrm>
          <a:prstGeom prst="rect">
            <a:avLst/>
          </a:prstGeom>
          <a:noFill/>
        </p:spPr>
        <p:txBody>
          <a:bodyPr wrap="square">
            <a:spAutoFit/>
          </a:bodyPr>
          <a:lstStyle/>
          <a:p>
            <a:pPr algn="l"/>
            <a:r>
              <a:rPr sz="1600" b="0" i="0">
                <a:solidFill>
                  <a:srgbClr val="E8E8F0"/>
                </a:solidFill>
                <a:latin typeface="Calibri"/>
              </a:rPr>
              <a:t>AgentBase already running Lagos client pipelines. Not a slideware framework.</a:t>
            </a:r>
          </a:p>
        </p:txBody>
      </p:sp>
      <p:sp>
        <p:nvSpPr>
          <p:cNvPr id="16" name="Rectangle 15"/>
          <p:cNvSpPr/>
          <p:nvPr/>
        </p:nvSpPr>
        <p:spPr>
          <a:xfrm>
            <a:off x="640080" y="5074920"/>
            <a:ext cx="10881360" cy="960120"/>
          </a:xfrm>
          <a:prstGeom prst="rect">
            <a:avLst/>
          </a:prstGeom>
          <a:solidFill>
            <a:srgbClr val="1111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330952"/>
            <a:ext cx="1097280" cy="457200"/>
          </a:xfrm>
          <a:prstGeom prst="rect">
            <a:avLst/>
          </a:prstGeom>
          <a:noFill/>
        </p:spPr>
        <p:txBody>
          <a:bodyPr wrap="square">
            <a:spAutoFit/>
          </a:bodyPr>
          <a:lstStyle/>
          <a:p>
            <a:pPr algn="l"/>
            <a:r>
              <a:rPr sz="2200" b="1" i="0">
                <a:solidFill>
                  <a:srgbClr val="D4952A"/>
                </a:solidFill>
                <a:latin typeface="Georgia"/>
              </a:rPr>
              <a:t>04</a:t>
            </a:r>
          </a:p>
        </p:txBody>
      </p:sp>
      <p:sp>
        <p:nvSpPr>
          <p:cNvPr id="18" name="TextBox 17"/>
          <p:cNvSpPr txBox="1"/>
          <p:nvPr/>
        </p:nvSpPr>
        <p:spPr>
          <a:xfrm>
            <a:off x="2194560" y="5367528"/>
            <a:ext cx="8961120" cy="457200"/>
          </a:xfrm>
          <a:prstGeom prst="rect">
            <a:avLst/>
          </a:prstGeom>
          <a:noFill/>
        </p:spPr>
        <p:txBody>
          <a:bodyPr wrap="square">
            <a:spAutoFit/>
          </a:bodyPr>
          <a:lstStyle/>
          <a:p>
            <a:pPr algn="l"/>
            <a:r>
              <a:rPr sz="1600" b="0" i="0">
                <a:solidFill>
                  <a:srgbClr val="E8E8F0"/>
                </a:solidFill>
                <a:latin typeface="Calibri"/>
              </a:rPr>
              <a:t>The only public body of work connecting LFA, epistemic tooling, and African epistemology.</a:t>
            </a:r>
          </a:p>
        </p:txBody>
      </p:sp>
      <p:sp>
        <p:nvSpPr>
          <p:cNvPr id="19" name="Rectangle 18"/>
          <p:cNvSpPr/>
          <p:nvPr/>
        </p:nvSpPr>
        <p:spPr>
          <a:xfrm>
            <a:off x="0" y="6656832"/>
            <a:ext cx="12191695" cy="201168"/>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656832"/>
            <a:ext cx="7315200" cy="201168"/>
          </a:xfrm>
          <a:prstGeom prst="rect">
            <a:avLst/>
          </a:prstGeom>
          <a:noFill/>
        </p:spPr>
        <p:txBody>
          <a:bodyPr wrap="square">
            <a:spAutoFit/>
          </a:bodyPr>
          <a:lstStyle/>
          <a:p>
            <a:pPr algn="l"/>
            <a:r>
              <a:rPr sz="900" b="1" i="0">
                <a:solidFill>
                  <a:srgbClr val="09090A"/>
                </a:solidFill>
                <a:latin typeface="Calibri"/>
              </a:rPr>
              <a:t>LOG_ON  ·  Lagos  ·  Direction infrastructure for African AI</a:t>
            </a:r>
          </a:p>
        </p:txBody>
      </p:sp>
      <p:sp>
        <p:nvSpPr>
          <p:cNvPr id="21" name="TextBox 20"/>
          <p:cNvSpPr txBox="1"/>
          <p:nvPr/>
        </p:nvSpPr>
        <p:spPr>
          <a:xfrm>
            <a:off x="10424160" y="6656832"/>
            <a:ext cx="1371600" cy="201168"/>
          </a:xfrm>
          <a:prstGeom prst="rect">
            <a:avLst/>
          </a:prstGeom>
          <a:noFill/>
        </p:spPr>
        <p:txBody>
          <a:bodyPr wrap="square">
            <a:spAutoFit/>
          </a:bodyPr>
          <a:lstStyle/>
          <a:p>
            <a:pPr algn="r"/>
            <a:r>
              <a:rPr sz="900" b="1" i="0">
                <a:solidFill>
                  <a:srgbClr val="09090A"/>
                </a:solidFill>
                <a:latin typeface="Calibri"/>
              </a:rPr>
              <a:t>21 / 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63040"/>
            <a:ext cx="10058400" cy="365760"/>
          </a:xfrm>
          <a:prstGeom prst="rect">
            <a:avLst/>
          </a:prstGeom>
          <a:noFill/>
        </p:spPr>
        <p:txBody>
          <a:bodyPr wrap="square">
            <a:spAutoFit/>
          </a:bodyPr>
          <a:lstStyle/>
          <a:p>
            <a:pPr algn="l"/>
            <a:r>
              <a:rPr sz="1200" b="1" i="0">
                <a:solidFill>
                  <a:srgbClr val="D4952A"/>
                </a:solidFill>
                <a:latin typeface="Calibri"/>
              </a:rPr>
              <a:t>LOG_ON  ·  LAGOS  ·  2026</a:t>
            </a:r>
          </a:p>
        </p:txBody>
      </p:sp>
      <p:sp>
        <p:nvSpPr>
          <p:cNvPr id="5" name="TextBox 4"/>
          <p:cNvSpPr txBox="1"/>
          <p:nvPr/>
        </p:nvSpPr>
        <p:spPr>
          <a:xfrm>
            <a:off x="822960" y="1965960"/>
            <a:ext cx="10515600" cy="1645920"/>
          </a:xfrm>
          <a:prstGeom prst="rect">
            <a:avLst/>
          </a:prstGeom>
          <a:noFill/>
        </p:spPr>
        <p:txBody>
          <a:bodyPr wrap="square">
            <a:spAutoFit/>
          </a:bodyPr>
          <a:lstStyle/>
          <a:p>
            <a:pPr algn="l"/>
            <a:r>
              <a:rPr sz="3600" b="0" i="1">
                <a:solidFill>
                  <a:srgbClr val="F4F4F8"/>
                </a:solidFill>
                <a:latin typeface="Georgia"/>
              </a:rPr>
              <a:t>Are you a cognitive tenant?</a:t>
            </a:r>
          </a:p>
        </p:txBody>
      </p:sp>
      <p:sp>
        <p:nvSpPr>
          <p:cNvPr id="6" name="TextBox 5"/>
          <p:cNvSpPr txBox="1"/>
          <p:nvPr/>
        </p:nvSpPr>
        <p:spPr>
          <a:xfrm>
            <a:off x="822960" y="3749039"/>
            <a:ext cx="10058400" cy="1280160"/>
          </a:xfrm>
          <a:prstGeom prst="rect">
            <a:avLst/>
          </a:prstGeom>
          <a:noFill/>
        </p:spPr>
        <p:txBody>
          <a:bodyPr wrap="square">
            <a:spAutoFit/>
          </a:bodyPr>
          <a:lstStyle/>
          <a:p>
            <a:pPr algn="l"/>
            <a:r>
              <a:rPr sz="1800" b="0" i="0">
                <a:solidFill>
                  <a:srgbClr val="9A9AA8"/>
                </a:solidFill>
                <a:latin typeface="Calibri"/>
              </a:rPr>
              <a:t>Cultural Bias Rapid Audit · 48 hours · 5-page report
logonthepage@gmail.com</a:t>
            </a:r>
          </a:p>
        </p:txBody>
      </p:sp>
      <p:sp>
        <p:nvSpPr>
          <p:cNvPr id="7" name="TextBox 6"/>
          <p:cNvSpPr txBox="1"/>
          <p:nvPr/>
        </p:nvSpPr>
        <p:spPr>
          <a:xfrm>
            <a:off x="822960" y="5303520"/>
            <a:ext cx="10058400" cy="548640"/>
          </a:xfrm>
          <a:prstGeom prst="rect">
            <a:avLst/>
          </a:prstGeom>
          <a:noFill/>
        </p:spPr>
        <p:txBody>
          <a:bodyPr wrap="square">
            <a:spAutoFit/>
          </a:bodyPr>
          <a:lstStyle/>
          <a:p>
            <a:pPr algn="l"/>
            <a:r>
              <a:rPr sz="1400" b="0" i="0">
                <a:solidFill>
                  <a:srgbClr val="5A5A65"/>
                </a:solidFill>
                <a:latin typeface="Calibri"/>
              </a:rPr>
              <a:t>The papers are on the site. The files download. The work is ready to run.</a:t>
            </a:r>
          </a:p>
        </p:txBody>
      </p:sp>
      <p:sp>
        <p:nvSpPr>
          <p:cNvPr id="8" name="Rectangle 7"/>
          <p:cNvSpPr/>
          <p:nvPr/>
        </p:nvSpPr>
        <p:spPr>
          <a:xfrm>
            <a:off x="0" y="6656832"/>
            <a:ext cx="12191695" cy="201168"/>
          </a:xfrm>
          <a:prstGeom prst="rect">
            <a:avLst/>
          </a:prstGeom>
          <a:solidFill>
            <a:srgbClr val="D49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656832"/>
            <a:ext cx="7315200" cy="201168"/>
          </a:xfrm>
          <a:prstGeom prst="rect">
            <a:avLst/>
          </a:prstGeom>
          <a:noFill/>
        </p:spPr>
        <p:txBody>
          <a:bodyPr wrap="square">
            <a:spAutoFit/>
          </a:bodyPr>
          <a:lstStyle/>
          <a:p>
            <a:pPr algn="l"/>
            <a:r>
              <a:rPr sz="900" b="1" i="0">
                <a:solidFill>
                  <a:srgbClr val="09090A"/>
                </a:solidFill>
                <a:latin typeface="Calibri"/>
              </a:rPr>
              <a:t>LOG_ON  ·  Lagos  ·  Direction infrastructure for African AI</a:t>
            </a:r>
          </a:p>
        </p:txBody>
      </p:sp>
      <p:sp>
        <p:nvSpPr>
          <p:cNvPr id="10" name="TextBox 9"/>
          <p:cNvSpPr txBox="1"/>
          <p:nvPr/>
        </p:nvSpPr>
        <p:spPr>
          <a:xfrm>
            <a:off x="10424160" y="6656832"/>
            <a:ext cx="1371600" cy="201168"/>
          </a:xfrm>
          <a:prstGeom prst="rect">
            <a:avLst/>
          </a:prstGeom>
          <a:noFill/>
        </p:spPr>
        <p:txBody>
          <a:bodyPr wrap="square">
            <a:spAutoFit/>
          </a:bodyPr>
          <a:lstStyle/>
          <a:p>
            <a:pPr algn="r"/>
            <a:r>
              <a:rPr sz="900" b="1" i="0">
                <a:solidFill>
                  <a:srgbClr val="09090A"/>
                </a:solidFill>
                <a:latin typeface="Calibri"/>
              </a:rPr>
              <a:t>22 /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